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5"/>
        <p:guide pos="28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82296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上游系统接口对接方案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AED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测试平台（Bots.TestBench）与各上游业务系统接口梳理</a:t>
            </a:r>
            <a:endParaRPr sz="1800" b="0" i="0">
              <a:solidFill>
                <a:srgbClr val="AED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FB3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依据：仓库代码调用实证 · 14.Documents/上游系统接口对接.md</a:t>
            </a:r>
            <a:endParaRPr sz="1100" b="0" i="0">
              <a:solidFill>
                <a:srgbClr val="8FB3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测试平台上游系统对接全景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现状：7 个上游系统/服务在用，MES 与新发货系统为主干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3291840" cy="2743200"/>
          </a:xfrm>
          <a:prstGeom prst="roundRect">
            <a:avLst>
              <a:gd name="adj" fmla="val 15000"/>
            </a:avLst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测试平台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D6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Bots.TestBench</a:t>
            </a:r>
            <a:endParaRPr sz="1200" b="0" i="0">
              <a:solidFill>
                <a:srgbClr val="D6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D6EB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测试任务初始化
出厂检验/老化/自检</a:t>
            </a:r>
            <a:endParaRPr sz="1050" b="0" i="0">
              <a:solidFill>
                <a:srgbClr val="D6EB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业务主线</a:t>
            </a:r>
            <a:endParaRPr sz="11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 → 取发货单 → 查/写设备属性 → 环境修正 → 检验回写 → 报工</a:t>
            </a:r>
            <a:endParaRPr sz="9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4709160" y="1444752"/>
            <a:ext cx="128016" cy="128016"/>
          </a:xfrm>
          <a:prstGeom prst="ellipse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83480" y="1234440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88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系统</a:t>
            </a:r>
            <a:endParaRPr sz="1200" b="1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设备属性读写 / 报工（8+1 接口）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703320" y="1517904"/>
            <a:ext cx="978408" cy="0"/>
          </a:xfrm>
          <a:prstGeom prst="line">
            <a:avLst/>
          </a:prstGeom>
          <a:ln w="12700">
            <a:solidFill>
              <a:srgbClr val="188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09160" y="2084831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83480" y="1874519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发货系统·新 PDS</a:t>
            </a:r>
            <a:endParaRPr sz="12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SN 取发货单 / 检验回写（当前主路径）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2157984"/>
            <a:ext cx="978408" cy="0"/>
          </a:xfrm>
          <a:prstGeom prst="line">
            <a:avLst/>
          </a:prstGeom>
          <a:ln w="12700">
            <a:solidFill>
              <a:srgbClr val="43A0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09160" y="2724912"/>
            <a:ext cx="128016" cy="128016"/>
          </a:xfrm>
          <a:prstGeom prst="ellipse">
            <a:avLst/>
          </a:prstGeom>
          <a:solidFill>
            <a:srgbClr val="C6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2514600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发货系统·旧 SOAP</a:t>
            </a:r>
            <a:endParaRPr sz="1200" b="1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存量兼容（4 接口全部可替换）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2798064"/>
            <a:ext cx="978408" cy="0"/>
          </a:xfrm>
          <a:prstGeom prst="line">
            <a:avLst/>
          </a:prstGeom>
          <a:ln w="12700">
            <a:solidFill>
              <a:srgbClr val="C642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709160" y="3364991"/>
            <a:ext cx="128016" cy="128016"/>
          </a:xfrm>
          <a:prstGeom prst="ellipse">
            <a:avLst/>
          </a:prstGeom>
          <a:solidFill>
            <a:srgbClr val="C6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83480" y="3154679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计量系统 MeterERP</a:t>
            </a:r>
            <a:endParaRPr sz="1200" b="1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个操作仅 1 个实际在用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703320" y="3438144"/>
            <a:ext cx="978408" cy="0"/>
          </a:xfrm>
          <a:prstGeom prst="line">
            <a:avLst/>
          </a:prstGeom>
          <a:ln w="12700">
            <a:solidFill>
              <a:srgbClr val="C642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709160" y="4005072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83480" y="3794760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CSTDB 数据服务</a:t>
            </a:r>
            <a:endParaRPr sz="12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大气压补偿（142 处调用）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703320" y="4078224"/>
            <a:ext cx="978408" cy="0"/>
          </a:xfrm>
          <a:prstGeom prst="line">
            <a:avLst/>
          </a:prstGeom>
          <a:ln w="12700">
            <a:solidFill>
              <a:srgbClr val="43A0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709160" y="4645152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83480" y="4434840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0B4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AEM 平台</a:t>
            </a:r>
            <a:endParaRPr sz="1200" b="1">
              <a:solidFill>
                <a:srgbClr val="F0B4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环境温湿度 / 大气压采集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703320" y="4718303"/>
            <a:ext cx="978408" cy="0"/>
          </a:xfrm>
          <a:prstGeom prst="line">
            <a:avLst/>
          </a:prstGeom>
          <a:ln w="12700">
            <a:solidFill>
              <a:srgbClr val="F0B4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709160" y="5285231"/>
            <a:ext cx="128016" cy="128016"/>
          </a:xfrm>
          <a:prstGeom prst="ellipse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83480" y="5074919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88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远程服务</a:t>
            </a:r>
            <a:endParaRPr sz="1200" b="1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版本验证 / 升级文件下载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703320" y="5358383"/>
            <a:ext cx="978408" cy="0"/>
          </a:xfrm>
          <a:prstGeom prst="line">
            <a:avLst/>
          </a:prstGeom>
          <a:ln w="12700">
            <a:solidFill>
              <a:srgbClr val="188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709160" y="5925312"/>
            <a:ext cx="128016" cy="128016"/>
          </a:xfrm>
          <a:prstGeom prst="ellipse">
            <a:avLst/>
          </a:prstGeom>
          <a:solidFill>
            <a:srgbClr val="5E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3480" y="5715000"/>
            <a:ext cx="6766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27432" rIns="73152" bIns="27432" rtlCol="0" anchor="ctr"/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U8 / U9 / CRM</a:t>
            </a:r>
            <a:endParaRPr sz="1200" b="1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无直连 · 数据经接口间接返回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703320" y="5998464"/>
            <a:ext cx="978408" cy="0"/>
          </a:xfrm>
          <a:prstGeom prst="line">
            <a:avLst/>
          </a:prstGeom>
          <a:ln w="10160">
            <a:solidFill>
              <a:srgbClr val="B0B0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5760" y="6368415"/>
            <a:ext cx="6400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6478143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641413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🟢 高频/常用</a:t>
            </a:r>
            <a:endParaRPr sz="10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2651760" y="6478143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641413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🟡 低频（特定场景/降级）</a:t>
            </a:r>
            <a:endParaRPr sz="10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663440" y="6478143"/>
            <a:ext cx="128016" cy="128016"/>
          </a:xfrm>
          <a:prstGeom prst="ellipse">
            <a:avLst/>
          </a:prstGeom>
          <a:solidFill>
            <a:srgbClr val="C6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641413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🔴 不常用（可替换/无调用）</a:t>
            </a:r>
            <a:endParaRPr sz="10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对接总览（关键接口）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仅收录有实际代码调用的接口；地址以环境配置为准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4206240"/>
                <a:gridCol w="1737360"/>
                <a:gridCol w="155448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上游系统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对接方式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地址/端点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在用接口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使用频率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 系统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HTTP REST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192.168.4.104:9291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+ 报工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高频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发货系统·新 PDS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HTTP REST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scm.const.cc:8810/api/PDS_Public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高频（主路径）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发货系统·旧 SOAP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SOAP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bh.const.cc/DispachService.asmx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642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4（全部可替换）</a:t>
                      </a:r>
                      <a:endParaRPr sz="1100" b="1" i="0">
                        <a:solidFill>
                          <a:srgbClr val="C642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🔴 不常用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计量系统 MeterERP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WCF SOAP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192.168.0.131:8001/DBServices.svc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C642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7（6 个不常用）</a:t>
                      </a:r>
                      <a:endParaRPr sz="1100" b="1" i="0">
                        <a:solidFill>
                          <a:srgbClr val="C642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🔴 大多不常用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CSTDBService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SOAP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192.168.0.191:9040/CSTDBService.asmx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高频（142 处）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AEM 平台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HTTP REST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yq.aem.const.cc/api/ExternalPlatforms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4（3 在用）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 低频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远程服务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HTTP REST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192.168.0.134:10001/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高频（228 处）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U8 / U9 / CRM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无直连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 MES / 发货系统间接返回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关键结论：MES 与新发货系统（PDS）是当前主干；旧发货系统、计量系统 6 个操作已被取代或无人调用，是接口精简的主要对象。</a:t>
            </a:r>
            <a:endParaRPr sz="1250" b="1" i="0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系统：8 个接口 + 报工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REST · 192.168.4.104:9291 · IS_Canuse=true 时优先走 MES，失败降级计量系统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827532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011680"/>
                <a:gridCol w="3017520"/>
                <a:gridCol w="2331720"/>
                <a:gridCol w="5029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具体作用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使用产品（阶段）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频率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GetDeviceInfoBySN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SN 查设备属性（型号/量程/订单）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E05 自检、P22 整机、老化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SetDeviceProperty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回写版本/自检时间/生产日期/MAC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各产品出厂设置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GetComponentSN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子组件 SN 集合（追溯/BOM/升级）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P22/P26/T06/CTS 整机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GetAllComponent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全部子组件完整信息（调用少）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CTS 整机、通用封装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🔴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AddAssemblyInfo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建立组装父子关系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P22/P28 组装工位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GetSensorInfoByDeviceSN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按主机查传感器信息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CDP/DPSEX/P22 整机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GetSensorsRangeReference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传感器量程对照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通用量程配置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GetCertificate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证书查询（独立证书中心）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P25/P26/DPSEX 证书打印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927465" y="996950"/>
            <a:ext cx="320040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73152" bIns="27432" rtlCol="0" anchor="t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报工</a:t>
            </a:r>
            <a:endParaRPr sz="13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/api/mes/jobBooking/create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工序代码 + SN + 合格状态 + 工时</a:t>
            </a:r>
            <a:endParaRPr sz="9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老化 / 出厂检验 / P21 各工序节点</a:t>
            </a:r>
            <a:endParaRPr sz="9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 IsSuccess / Reason 用于提示</a:t>
            </a:r>
            <a:endParaRPr sz="9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27465" y="3255645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73152" bIns="27432" rtlCol="0" anchor="t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68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关键开关</a:t>
            </a:r>
            <a:endParaRPr sz="1300" b="1" i="0">
              <a:solidFill>
                <a:srgbClr val="D68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MES_Api_Helper.IS_Canuse</a:t>
            </a:r>
            <a:endParaRPr sz="9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true → 走 MES HTTP 接口</a:t>
            </a:r>
            <a:endParaRPr sz="9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false → 降级本地库/计量系统</a:t>
            </a:r>
            <a:endParaRPr sz="9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当前为 true，计量系统被 MES 取代</a:t>
            </a:r>
            <a:endParaRPr sz="950" b="1" i="0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发货系统：新旧并存，新 PDS 已取代旧 SOAP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新系统随 U9 于 2026-01-10 上线；旧系统 4 个操作全部可替换（删除线）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029200" cy="2514600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73152" bIns="27432" rtlCol="0" anchor="t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新发货系统 PDS（主路径）</a:t>
            </a:r>
            <a:endParaRPr sz="1500" b="1" i="0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REST · scm.const.cc:8810/api/PDS_Public</a:t>
            </a:r>
            <a:endParaRPr sz="9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457200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QueryFirstTestSoft</a:t>
            </a:r>
            <a:endParaRPr sz="1200" b="1" i="0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按 SN 取发货单 → 初始化 DUT（几乎所有产品）</a:t>
            </a:r>
            <a:endParaRPr sz="9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990088"/>
            <a:ext cx="457200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CheckFinished</a:t>
            </a:r>
            <a:endParaRPr sz="1200" b="1" i="0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出厂检验结果回写 → 驱动订单流转</a:t>
            </a:r>
            <a:endParaRPr sz="9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5029200" cy="2514600"/>
          </a:xfrm>
          <a:prstGeom prst="roundRect">
            <a:avLst>
              <a:gd name="adj" fmla="val 8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73152" bIns="27432" rtlCol="0" anchor="t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旧发货系统 SOAP（存量兼容）</a:t>
            </a:r>
            <a:endParaRPr sz="1500" b="1" i="0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SOAP · bh.const.cc/DispachService.asmx</a:t>
            </a:r>
            <a:endParaRPr sz="9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22128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GetDevicesSpecificationBySN</a:t>
            </a:r>
            <a:endParaRPr sz="10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8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↳ 被 QueryFirstTestSoft 替代</a:t>
            </a:r>
            <a:endParaRPr sz="8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86600" y="25786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GetDevicesSpecificationBySN_new</a:t>
            </a:r>
            <a:endParaRPr sz="10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8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↳ 被 QueryFirstTestSoft 覆盖</a:t>
            </a:r>
            <a:endParaRPr sz="8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6600" y="29443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UpdateCheckResult</a:t>
            </a:r>
            <a:endParaRPr sz="10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8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↳ 被 CheckFinished 替代</a:t>
            </a:r>
            <a:endParaRPr sz="8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86600" y="3310127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UpdateCheckResultNew</a:t>
            </a:r>
            <a:endParaRPr sz="10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8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↳ 被 CheckFinished 替代</a:t>
            </a:r>
            <a:endParaRPr sz="8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623560" y="2286000"/>
            <a:ext cx="914400" cy="640080"/>
          </a:xfrm>
          <a:prstGeom prst="rightArrow">
            <a:avLst/>
          </a:prstGeom>
          <a:solidFill>
            <a:srgbClr val="C6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299923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已取代</a:t>
            </a:r>
            <a:endParaRPr sz="1000" b="1" i="0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发货单返回字段（DeliveryData）：U8ID（OrderRowID）、OrderType（1发货/2借领/3外销/4备货）、AccuracyCRM、SendOrderNo、多量程等</a:t>
            </a:r>
            <a:endParaRPr sz="12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434840"/>
          <a:ext cx="112471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66344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关键字段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无用字段（⚑ 解析但无代码读取）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OrderRowID → U8ID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U8 数据 ID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Customer 客户信息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OrderType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订单类型 1/2/3/4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Media / Medium 介质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SendOrderNo / StockOrderNo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发货单号 / 备货单号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SpecialNo 特制单编号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Accuracy / AccuracyCRM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精度 / CRM 精度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IsSendToCalibrate / ExplosionProof / InvCode / ParentInvCode / Interface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计量系统 MeterERP：7 个操作仅 1 个实际在用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WCF SOAP · 192.168.0.131:8001/DBServices.svc · 当前 IS_Canuse=true 时被 MES 取代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计量系统操作（🔴 可替换）</a:t>
            </a:r>
            <a:endParaRPr sz="1250" b="1" i="0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0" y="1188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 / 处置</a:t>
            </a:r>
            <a:endParaRPr sz="125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108960" cy="512064"/>
          </a:xfrm>
          <a:prstGeom prst="roundRect">
            <a:avLst>
              <a:gd name="adj" fmla="val 25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GetComponentCode</a:t>
            </a:r>
            <a:endParaRPr sz="11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778240" y="1600200"/>
            <a:ext cx="2926080" cy="512064"/>
          </a:xfrm>
          <a:prstGeom prst="roundRect">
            <a:avLst>
              <a:gd name="adj" fmla="val 25000"/>
            </a:avLst>
          </a:prstGeom>
          <a:solidFill>
            <a:srgbClr val="EAF5EC"/>
          </a:solidFill>
          <a:ln w="15240">
            <a:solidFill>
              <a:srgbClr val="188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GetComponentSN</a:t>
            </a:r>
            <a:endParaRPr sz="11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3320" y="1691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GetComponentSN：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DBService 已优先走 MES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2221992"/>
            <a:ext cx="3108960" cy="512064"/>
          </a:xfrm>
          <a:prstGeom prst="roundRect">
            <a:avLst>
              <a:gd name="adj" fmla="val 25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UpadteDeviceVersion</a:t>
            </a:r>
            <a:endParaRPr sz="11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778240" y="2221992"/>
            <a:ext cx="2926080" cy="512064"/>
          </a:xfrm>
          <a:prstGeom prst="roundRect">
            <a:avLst>
              <a:gd name="adj" fmla="val 25000"/>
            </a:avLst>
          </a:prstGeom>
          <a:solidFill>
            <a:srgbClr val="EAF5EC"/>
          </a:solidFill>
          <a:ln w="15240">
            <a:solidFill>
              <a:srgbClr val="188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SetDeviceProperty</a:t>
            </a:r>
            <a:endParaRPr sz="11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3320" y="23134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SetDeviceProperty：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回写固件版本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2843784"/>
            <a:ext cx="3108960" cy="512064"/>
          </a:xfrm>
          <a:prstGeom prst="roundRect">
            <a:avLst>
              <a:gd name="adj" fmla="val 25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UpadteDeviceSelfCheckTime</a:t>
            </a:r>
            <a:endParaRPr sz="11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778240" y="2843784"/>
            <a:ext cx="2926080" cy="512064"/>
          </a:xfrm>
          <a:prstGeom prst="roundRect">
            <a:avLst>
              <a:gd name="adj" fmla="val 25000"/>
            </a:avLst>
          </a:prstGeom>
          <a:solidFill>
            <a:srgbClr val="EAF5EC"/>
          </a:solidFill>
          <a:ln w="15240">
            <a:solidFill>
              <a:srgbClr val="188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SetDeviceProperty</a:t>
            </a:r>
            <a:endParaRPr sz="11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03320" y="293522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 SetDeviceProperty：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回写自检时间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3465576"/>
            <a:ext cx="3108960" cy="512064"/>
          </a:xfrm>
          <a:prstGeom prst="roundRect">
            <a:avLst>
              <a:gd name="adj" fmla="val 25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GetLatestVersion</a:t>
            </a:r>
            <a:endParaRPr sz="11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78240" y="3465576"/>
            <a:ext cx="2926080" cy="512064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 w="15240">
            <a:solidFill>
              <a:srgbClr val="5E6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直接下线</a:t>
            </a:r>
            <a:endParaRPr sz="1100" b="1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03320" y="355701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直接下线：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封装后无上层调用者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4087368"/>
            <a:ext cx="3108960" cy="512064"/>
          </a:xfrm>
          <a:prstGeom prst="roundRect">
            <a:avLst>
              <a:gd name="adj" fmla="val 25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IsFirmVersionPass</a:t>
            </a:r>
            <a:endParaRPr sz="11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778240" y="4087368"/>
            <a:ext cx="2926080" cy="512064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 w="15240">
            <a:solidFill>
              <a:srgbClr val="5E6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直接下线</a:t>
            </a:r>
            <a:endParaRPr sz="1100" b="1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3320" y="41788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直接下线：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封装后无上层调用者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3108960" cy="512064"/>
          </a:xfrm>
          <a:prstGeom prst="roundRect">
            <a:avLst>
              <a:gd name="adj" fmla="val 25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 strike="sngStrike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IsMPCFirmVersionPass</a:t>
            </a:r>
            <a:endParaRPr sz="1100" b="1" i="0" strike="sngStrike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78240" y="4709160"/>
            <a:ext cx="2926080" cy="512064"/>
          </a:xfrm>
          <a:prstGeom prst="roundRect">
            <a:avLst>
              <a:gd name="adj" fmla="val 25000"/>
            </a:avLst>
          </a:prstGeom>
          <a:solidFill>
            <a:srgbClr val="F4F4F4"/>
          </a:solidFill>
          <a:ln w="15240">
            <a:solidFill>
              <a:srgbClr val="5E6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直接下线</a:t>
            </a:r>
            <a:endParaRPr sz="1100" b="1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03320" y="4800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直接下线：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0000"/>
              </a:lnSpc>
            </a:pPr>
            <a:r>
              <a:rPr sz="9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封装后无上层调用者</a:t>
            </a:r>
            <a:endParaRPr sz="9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5240">
            <a:solidFill>
              <a:srgbClr val="D68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68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结论：唯一实际触达本服务的操作是 UpdateDeviceTemperature（MES 无温度回写接口，19 处/16 文件）；其余 6 个随 MES 全面启用后可下线。</a:t>
            </a:r>
            <a:endParaRPr sz="1150" b="1" i="0">
              <a:solidFill>
                <a:srgbClr val="D68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CSTDB 数据服务 &amp; AEM 环境监测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大气压补偿 + 环境温湿度修正，均为测试数据修正环节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73152" bIns="27432" rtlCol="0" anchor="t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CSTDBService（DipperDB）</a:t>
            </a:r>
            <a:endParaRPr sz="14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SOAP · 192.168.0.191:9040/CSTDBService.asmx</a:t>
            </a:r>
            <a:endParaRPr sz="9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GetLatestAtoms</a:t>
            </a:r>
            <a:endParaRPr sz="1600" b="1" i="0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获取当前大气压（double）</a:t>
            </a:r>
            <a:endParaRPr sz="11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142 处调用 / 49 文件 · 全平台压力类产品</a:t>
            </a:r>
            <a:endParaRPr sz="10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使用场景：</a:t>
            </a:r>
            <a:r>
              <a:rPr sz="10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压力类测试前读取实时大气压用于示值补偿/校验</a:t>
            </a:r>
            <a:endParaRPr sz="10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使用产品：</a:t>
            </a:r>
            <a:r>
              <a:rPr sz="10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老化×8、P15×4、P21×8、P25 整机×4、T05、CDP/DPSEX/P06/P22/P23/P26/P28/T01/T04、CTS 机型</a:t>
            </a:r>
            <a:endParaRPr sz="10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不可替换：</a:t>
            </a:r>
            <a:r>
              <a:rPr sz="10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独立数据源，无同类接口</a:t>
            </a:r>
            <a:endParaRPr sz="10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6480" y="123444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73152" bIns="27432" rtlCol="0" anchor="t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AEM 平台（环境监测）</a:t>
            </a:r>
            <a:endParaRPr sz="14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REST · yq.aem.const.cc/api/ExternalPlatforms · API Key 认证</a:t>
            </a:r>
            <a:endParaRPr sz="9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03120"/>
          <a:ext cx="5303520" cy="195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1097280"/>
              </a:tblGrid>
              <a:tr h="420623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端点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/Token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换取访问令牌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在用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/LastDataBySN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SN 取最新环境数据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在用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/DataBySN</a:t>
                      </a:r>
                      <a:endParaRPr sz="95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按时间取历史（1 处调用）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 可与 LastDataBySN 合并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/LastDataByPoint</a:t>
                      </a:r>
                      <a:endParaRPr sz="95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按点位取数据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🔴 无调用，可下线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4160520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字段使用：</a:t>
            </a:r>
            <a:r>
              <a:rPr sz="10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/ UtcDateTime / TypeID（2温度·3大气压·11湿度）/ Value 在用</a:t>
            </a:r>
            <a:endParaRPr sz="10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未使用：</a:t>
            </a:r>
            <a:r>
              <a:rPr sz="10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DeviceSn、CollectionInterval、Range、UnitID、UnitName、ChannelIndex</a:t>
            </a:r>
            <a:endParaRPr sz="10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调用入口：</a:t>
            </a:r>
            <a:r>
              <a:rPr sz="10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Helper.GetEnvironmentTemperature()，数据超 10 分钟判失效</a:t>
            </a:r>
            <a:endParaRPr sz="10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远程服务：版本验证 6 端点可合并为 1 个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 REST · 192.168.0.134:10001/ · 版本验证 228 处调用 + 升级文件下载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6 个端点（业务逻辑相同，参数组合不同）</a:t>
            </a:r>
            <a:endParaRPr sz="12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6126480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端点（相对路径）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频率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VaildSoftVersion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softVersion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121 处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-byDeviceType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+deviceType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107 处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-byHardVersion</a:t>
                      </a:r>
                      <a:endParaRPr sz="95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+hardVersion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并入通用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-byHardVersionAndDeviceType</a:t>
                      </a:r>
                      <a:endParaRPr sz="95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+hardVersion+deviceType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🟢 并入通用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-byHostVersion</a:t>
                      </a:r>
                      <a:endParaRPr sz="95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+hostVersion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 16 处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-bySuffix</a:t>
                      </a:r>
                      <a:endParaRPr sz="95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+suffix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🟡 4 处（P15）</a:t>
                      </a:r>
                      <a:endParaRPr sz="95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1508760"/>
            <a:ext cx="4572000" cy="3017520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73152" bIns="27432" rtlCol="0" anchor="t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合并方案（建议）</a:t>
            </a:r>
            <a:endParaRPr sz="1300" b="1" i="0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VaildSoftVersion?softVersion=</a:t>
            </a:r>
            <a:endParaRPr sz="105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&amp;deviceType=&amp;hardVersion=</a:t>
            </a:r>
            <a:endParaRPr sz="105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&amp;hostVersion=&amp;suffix=</a:t>
            </a:r>
            <a:endParaRPr sz="105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（参数均可选，服务端按组合判断）</a:t>
            </a:r>
            <a:endParaRPr sz="9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D68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 DBService 6 个封装收敛为 1 个</a:t>
            </a:r>
            <a:endParaRPr sz="1000" b="1" i="0">
              <a:solidFill>
                <a:srgbClr val="D68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3408" y="26517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00" b="1" i="0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73152" bIns="27432" rtlCol="0" anchor="t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888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升级文件接口（在用）</a:t>
            </a:r>
            <a:endParaRPr sz="1300" b="1" i="0">
              <a:solidFill>
                <a:srgbClr val="1888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/api/upgradeFile/Download/{fileID}</a:t>
            </a:r>
            <a:r>
              <a:rPr sz="10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固件/字体/FTDI 文件下载（ConST211H/218/221/273/31X/320X/811/CDP/CDPR 等设备升级）</a:t>
            </a:r>
            <a:endParaRPr sz="10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UpgradeFileHelper.GetFiles(...)</a:t>
            </a:r>
            <a:r>
              <a:rPr sz="105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远程升级文件列表查询</a:t>
            </a:r>
            <a:endParaRPr sz="105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可替换 / 可下线接口汇总</a:t>
            </a:r>
            <a:endParaRPr sz="2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 17 个接口可精简（删除线=可替换），建议分步推进</a:t>
            </a:r>
            <a:endParaRPr sz="125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100" b="0" i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023360"/>
                <a:gridCol w="2743200"/>
                <a:gridCol w="31089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可替换接口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替换为 / 处置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原因</a:t>
                      </a:r>
                      <a:endParaRPr sz="11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旧发货系统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GetDevicesSpecificationBySN / _new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QueryFirstTestSoft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 PDS 已上线，功能相同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旧发货系统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UpdateCheckResult / New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CheckFinished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 PDS 已上线，功能相同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计量系统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GetComponentCode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 GetComponentSN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DBService 已优先走 MES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计量系统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UpadteDeviceVersion / SelfCheckTime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 SetDeviceProperty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仅降级路径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计量系统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GetLatestVersion / IsFirmVersionPass / IsMPCFirmVersionPass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直接下线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封装后无上层调用者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AEM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/DataBySN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并入 /LastDataBySN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同构，仅多 dataTime 参数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AEM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/LastDataByPoint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直接下线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无任何调用者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远程服务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byHardVersion / 组合 / byHostVersion / bySuffix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并入 VaildSoftVersion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同逻辑，参数组合不同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strike="sngStrike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GetAllComponent</a:t>
                      </a:r>
                      <a:endParaRPr sz="1000" b="0" i="0" strike="sngStrike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GetComponentSN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同源查询，调用少</a:t>
                      </a:r>
                      <a:endParaRPr sz="1000" b="0" i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建议实施顺序：</a:t>
            </a:r>
            <a:endParaRPr sz="12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关闭旧发货系统 SOAP → ② 计量系统随 MES 全面启用后下线 6 个操作 → ③ 版本验证/AEM 接口合并（与信息部确认契约）→ ④ 清理 DBService 客户端封装</a:t>
            </a:r>
            <a:endParaRPr sz="11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01168"/>
            <a:ext cx="54864" cy="502920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接口精简后（To-Be）：保留 17 个接口</a:t>
            </a:r>
            <a:endParaRPr sz="26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676656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去掉可替换接口后，剩余接口按系统归类如下（在用 35 → 保留 17，精简约 50%）</a:t>
            </a:r>
            <a:endParaRPr sz="12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BF0F0"/>
          </a:solidFill>
          <a:ln w="15240">
            <a:solidFill>
              <a:srgbClr val="C64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在用接口</a:t>
            </a:r>
            <a:endParaRPr sz="1100" b="1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6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3000" b="1">
              <a:solidFill>
                <a:srgbClr val="C6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0" y="11430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保留接口</a:t>
            </a:r>
            <a:endParaRPr sz="1100" b="1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30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1430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5240">
            <a:solidFill>
              <a:srgbClr val="D68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精简</a:t>
            </a:r>
            <a:endParaRPr sz="1100" b="1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D68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约 50%</a:t>
            </a:r>
            <a:endParaRPr sz="2400" b="1">
              <a:solidFill>
                <a:srgbClr val="D680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92640" y="123444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保留原则：</a:t>
            </a:r>
            <a:endParaRPr sz="10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5E66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主干接口 + 无替代能力的辅助接口</a:t>
            </a:r>
            <a:endParaRPr sz="950" b="0">
              <a:solidFill>
                <a:srgbClr val="5E66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377440"/>
          <a:ext cx="11247120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03504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保留接口（精简后）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精简动作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1888D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 系统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GetDeviceInfoBySN、SetDeviceProperty、GetComponentSN、AddAssemblyInfo、GetSensorInfoByDeviceSN、GetSensorsRangeReference、GetCertificate + 报工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去掉 GetAllComponent（8 接口 + 报工）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发货系统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QueryFirstTestSoft、CheckFinished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旧 SOAP 4 个全部下线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计量系统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UpdateDeviceTemperature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其余 6 个下线（3 个被 MES 取代、3 个无调用）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CSTDBService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GetLatestAtoms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不变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AEM 平台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/Token、/LastDataBySN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DataBySN 合并入 LastDataBySN、LastDataByPoint 下线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远程服务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VaildSoftVersion（可选参数版）、upgradeFile/Download、GetFiles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个版本端点合并为 1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U8 / U9 / CRM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—（仍无直连，数据经接口间接返回）</a:t>
                      </a:r>
                      <a:endParaRPr sz="950" b="1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不变</a:t>
                      </a:r>
                      <a:endParaRPr sz="95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607187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EAF5EC"/>
          </a:solidFill>
          <a:ln w="1524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结论：精简后 MES + 新发货系统（PDS）成为唯一主干；计量系统退化为单接口辅助（温度回写）；版本验证收敛为单接口；AEM 仅保留环境数据查询。</a:t>
            </a:r>
            <a:endParaRPr sz="11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82296"/>
          </a:xfrm>
          <a:prstGeom prst="rect">
            <a:avLst/>
          </a:prstGeom>
          <a:solidFill>
            <a:srgbClr val="188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 · 请指正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ED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附：14.Documents/上游系统接口对接.md（含全部字段级说明）</a:t>
            </a:r>
            <a:endParaRPr sz="1400" b="0" i="0">
              <a:solidFill>
                <a:srgbClr val="AED3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5695</Words>
  <Application>WPS 演示</Application>
  <PresentationFormat>On-screen Show (4:3)</PresentationFormat>
  <Paragraphs>649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耿士磊</cp:lastModifiedBy>
  <cp:revision>4</cp:revision>
  <dcterms:created xsi:type="dcterms:W3CDTF">2013-01-27T09:14:00Z</dcterms:created>
  <dcterms:modified xsi:type="dcterms:W3CDTF">2026-08-14T06:01:55Z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F75EBC4698734999AD04EF35284736B4_12</vt:lpwstr>
  </property>
</Properties>
</file>