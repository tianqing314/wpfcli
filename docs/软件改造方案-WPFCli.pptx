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9427be4f164648" /><Relationship Type="http://schemas.openxmlformats.org/officeDocument/2006/relationships/extended-properties" Target="/docProps/app.xml" Id="R79af26913ccf4353" /><Relationship Type="http://schemas.openxmlformats.org/officeDocument/2006/relationships/officeDocument" Target="/ppt/presentation.xml" Id="Rd328497ee8a34a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1349ca778d4923"/>
  </p:sldMasterIdLst>
  <p:notesMasterIdLst>
    <p:notesMasterId xmlns:r="http://schemas.openxmlformats.org/officeDocument/2006/relationships" r:id="R512e922cecc04cb7"/>
  </p:notesMasterIdLst>
  <p:sldIdLst>
    <p:sldId xmlns:r="http://schemas.openxmlformats.org/officeDocument/2006/relationships" id="256" r:id="Rb2daf9c903154fe0"/>
    <p:sldId xmlns:r="http://schemas.openxmlformats.org/officeDocument/2006/relationships" id="257" r:id="Ra1bb892054064e58"/>
    <p:sldId xmlns:r="http://schemas.openxmlformats.org/officeDocument/2006/relationships" id="258" r:id="R627cffdaeb244861"/>
    <p:sldId xmlns:r="http://schemas.openxmlformats.org/officeDocument/2006/relationships" id="259" r:id="R73c1c390729e4f61"/>
    <p:sldId xmlns:r="http://schemas.openxmlformats.org/officeDocument/2006/relationships" id="260" r:id="R2715c2aa3b1742e7"/>
    <p:sldId xmlns:r="http://schemas.openxmlformats.org/officeDocument/2006/relationships" id="261" r:id="Ra0320cad67ee4263"/>
    <p:sldId xmlns:r="http://schemas.openxmlformats.org/officeDocument/2006/relationships" id="262" r:id="R06dbfc2f07d9413b"/>
    <p:sldId xmlns:r="http://schemas.openxmlformats.org/officeDocument/2006/relationships" id="263" r:id="Rc7a388a7c66a4f00"/>
    <p:sldId xmlns:r="http://schemas.openxmlformats.org/officeDocument/2006/relationships" id="264" r:id="R7236b6ed51854471"/>
    <p:sldId xmlns:r="http://schemas.openxmlformats.org/officeDocument/2006/relationships" id="265" r:id="Ra7f0416229174b9f"/>
    <p:sldId xmlns:r="http://schemas.openxmlformats.org/officeDocument/2006/relationships" id="266" r:id="R7bb17b73258d49de"/>
    <p:sldId xmlns:r="http://schemas.openxmlformats.org/officeDocument/2006/relationships" id="267" r:id="R2f686883f48c4e02"/>
    <p:sldId xmlns:r="http://schemas.openxmlformats.org/officeDocument/2006/relationships" id="268" r:id="R122bccfe1dcd42e2"/>
    <p:sldId xmlns:r="http://schemas.openxmlformats.org/officeDocument/2006/relationships" id="269" r:id="R9404964c7f43469f"/>
    <p:sldId xmlns:r="http://schemas.openxmlformats.org/officeDocument/2006/relationships" id="270" r:id="Rf4ccceed93f74395"/>
    <p:sldId xmlns:r="http://schemas.openxmlformats.org/officeDocument/2006/relationships" id="271" r:id="R47c97be1898d4c73"/>
    <p:sldId xmlns:r="http://schemas.openxmlformats.org/officeDocument/2006/relationships" id="272" r:id="Re8c741c3f4ce4fde"/>
    <p:sldId xmlns:r="http://schemas.openxmlformats.org/officeDocument/2006/relationships" id="273" r:id="Re636e46d20e743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12b9a1b1c441a2" /><Relationship Type="http://schemas.openxmlformats.org/officeDocument/2006/relationships/slideMaster" Target="/ppt/slideMasters/slideMaster1.xml" Id="R1b1349ca778d4923" /><Relationship Type="http://schemas.openxmlformats.org/officeDocument/2006/relationships/notesMaster" Target="/ppt/notesMasters/notesMaster1.xml" Id="R512e922cecc04cb7" /><Relationship Type="http://schemas.openxmlformats.org/officeDocument/2006/relationships/presProps" Target="/ppt/presProps.xml" Id="R6acd9392d5cb41cd" /><Relationship Type="http://schemas.openxmlformats.org/officeDocument/2006/relationships/tableStyles" Target="/ppt/tableStyles.xml" Id="R9260a5c612134020" /><Relationship Type="http://schemas.openxmlformats.org/officeDocument/2006/relationships/slide" Target="/ppt/slides/slide1.xml" Id="Rb2daf9c903154fe0" /><Relationship Type="http://schemas.openxmlformats.org/officeDocument/2006/relationships/slide" Target="/ppt/slides/slide2.xml" Id="Ra1bb892054064e58" /><Relationship Type="http://schemas.openxmlformats.org/officeDocument/2006/relationships/slide" Target="/ppt/slides/slide3.xml" Id="R627cffdaeb244861" /><Relationship Type="http://schemas.openxmlformats.org/officeDocument/2006/relationships/slide" Target="/ppt/slides/slide4.xml" Id="R73c1c390729e4f61" /><Relationship Type="http://schemas.openxmlformats.org/officeDocument/2006/relationships/slide" Target="/ppt/slides/slide5.xml" Id="R2715c2aa3b1742e7" /><Relationship Type="http://schemas.openxmlformats.org/officeDocument/2006/relationships/slide" Target="/ppt/slides/slide6.xml" Id="Ra0320cad67ee4263" /><Relationship Type="http://schemas.openxmlformats.org/officeDocument/2006/relationships/slide" Target="/ppt/slides/slide7.xml" Id="R06dbfc2f07d9413b" /><Relationship Type="http://schemas.openxmlformats.org/officeDocument/2006/relationships/slide" Target="/ppt/slides/slide8.xml" Id="Rc7a388a7c66a4f00" /><Relationship Type="http://schemas.openxmlformats.org/officeDocument/2006/relationships/slide" Target="/ppt/slides/slide9.xml" Id="R7236b6ed51854471" /><Relationship Type="http://schemas.openxmlformats.org/officeDocument/2006/relationships/slide" Target="/ppt/slides/slide10.xml" Id="Ra7f0416229174b9f" /><Relationship Type="http://schemas.openxmlformats.org/officeDocument/2006/relationships/slide" Target="/ppt/slides/slide11.xml" Id="R7bb17b73258d49de" /><Relationship Type="http://schemas.openxmlformats.org/officeDocument/2006/relationships/slide" Target="/ppt/slides/slide12.xml" Id="R2f686883f48c4e02" /><Relationship Type="http://schemas.openxmlformats.org/officeDocument/2006/relationships/slide" Target="/ppt/slides/slide13.xml" Id="R122bccfe1dcd42e2" /><Relationship Type="http://schemas.openxmlformats.org/officeDocument/2006/relationships/slide" Target="/ppt/slides/slide14.xml" Id="R9404964c7f43469f" /><Relationship Type="http://schemas.openxmlformats.org/officeDocument/2006/relationships/slide" Target="/ppt/slides/slide15.xml" Id="Rf4ccceed93f74395" /><Relationship Type="http://schemas.openxmlformats.org/officeDocument/2006/relationships/slide" Target="/ppt/slides/slide16.xml" Id="R47c97be1898d4c73" /><Relationship Type="http://schemas.openxmlformats.org/officeDocument/2006/relationships/slide" Target="/ppt/slides/slide17.xml" Id="Re8c741c3f4ce4fde" /><Relationship Type="http://schemas.openxmlformats.org/officeDocument/2006/relationships/slide" Target="/ppt/slides/slide18.xml" Id="Re636e46d20e743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ce4173158d41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75c21ebcfa4c35" /><Relationship Type="http://schemas.openxmlformats.org/officeDocument/2006/relationships/notesMaster" Target="/ppt/notesMasters/notesMaster1.xml" Id="Rcc037cfd6fab44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961c2dce1f4aa4" /><Relationship Type="http://schemas.openxmlformats.org/officeDocument/2006/relationships/notesMaster" Target="/ppt/notesMasters/notesMaster1.xml" Id="R132019b3b66e49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9e4692a3d8473c" /><Relationship Type="http://schemas.openxmlformats.org/officeDocument/2006/relationships/notesMaster" Target="/ppt/notesMasters/notesMaster1.xml" Id="R9db675c3548c44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2d5420902f43ef" /><Relationship Type="http://schemas.openxmlformats.org/officeDocument/2006/relationships/notesMaster" Target="/ppt/notesMasters/notesMaster1.xml" Id="R0af5f822200348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1b02787c324162" /><Relationship Type="http://schemas.openxmlformats.org/officeDocument/2006/relationships/notesMaster" Target="/ppt/notesMasters/notesMaster1.xml" Id="Ra7f3102020404b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ae30b4fa984062" /><Relationship Type="http://schemas.openxmlformats.org/officeDocument/2006/relationships/notesMaster" Target="/ppt/notesMasters/notesMaster1.xml" Id="R621e02809c6442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cfc6a806394229" /><Relationship Type="http://schemas.openxmlformats.org/officeDocument/2006/relationships/notesMaster" Target="/ppt/notesMasters/notesMaster1.xml" Id="R1791e425356e47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8c35a6fa194944" /><Relationship Type="http://schemas.openxmlformats.org/officeDocument/2006/relationships/notesMaster" Target="/ppt/notesMasters/notesMaster1.xml" Id="R5c185c496ad64f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d2c9146c5645f6" /><Relationship Type="http://schemas.openxmlformats.org/officeDocument/2006/relationships/notesMaster" Target="/ppt/notesMasters/notesMaster1.xml" Id="R7b01b7d8c22b41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ed8d18c7514ee8" /><Relationship Type="http://schemas.openxmlformats.org/officeDocument/2006/relationships/notesMaster" Target="/ppt/notesMasters/notesMaster1.xml" Id="R6076557687134b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ff2381cfba47e5" /><Relationship Type="http://schemas.openxmlformats.org/officeDocument/2006/relationships/notesMaster" Target="/ppt/notesMasters/notesMaster1.xml" Id="R7099941e590d41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caf3acf798478e" /><Relationship Type="http://schemas.openxmlformats.org/officeDocument/2006/relationships/notesMaster" Target="/ppt/notesMasters/notesMaster1.xml" Id="R9422fc436abb4c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33767f3f0d499e" /><Relationship Type="http://schemas.openxmlformats.org/officeDocument/2006/relationships/notesMaster" Target="/ppt/notesMasters/notesMaster1.xml" Id="Rd049d79bea38429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644ff520bcf425f" /><Relationship Type="http://schemas.openxmlformats.org/officeDocument/2006/relationships/notesMaster" Target="/ppt/notesMasters/notesMaster1.xml" Id="R92ac97e29a5340f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389bfe7de3a40d0" /><Relationship Type="http://schemas.openxmlformats.org/officeDocument/2006/relationships/notesMaster" Target="/ppt/notesMasters/notesMaster1.xml" Id="R87a9d2d65dfc48f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8109a8ece034929" /><Relationship Type="http://schemas.openxmlformats.org/officeDocument/2006/relationships/notesMaster" Target="/ppt/notesMasters/notesMaster1.xml" Id="R59b90ff268c54d1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0fcdc0792e34631" /><Relationship Type="http://schemas.openxmlformats.org/officeDocument/2006/relationships/notesMaster" Target="/ppt/notesMasters/notesMaster1.xml" Id="R431a6781906d405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2ac42fff0c34523" /><Relationship Type="http://schemas.openxmlformats.org/officeDocument/2006/relationships/notesMaster" Target="/ppt/notesMasters/notesMaster1.xml" Id="R6e32ba016ba044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G:\TestBench\testbench_new\Bots.TestBench\14.Documents\测试平台拆分方案.docx</a:t>
            </a:r>
          </a:p>
          <a:p xmlns:a="http://schemas.openxmlformats.org/drawingml/2006/main">
            <a:r>
              <a:t>- G:\WPFCli（现有 WPFCli 项目实现）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G:\TestBench\testbench_new\Bots.TestBench\14.Documents\测试平台拆分方案.docx，第一章《现有项目弊端》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G:\TestBench\testbench_new\Bots.TestBench\14.Documents\测试平台拆分方案.docx，第二章与第三章（按任务拆分）</a:t>
            </a:r>
          </a:p>
          <a:p xmlns:a="http://schemas.openxmlformats.org/drawingml/2006/main">
            <a:r>
              <a:t>- 项目组结论（2026-08-07）：组件、整机、出厂检验合并为 Machine 整机模板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G:\TestBench\testbench_new\Bots.TestBench\14.Documents\测试平台拆分方案.docx，2.3《拆分原则》</a:t>
            </a:r>
          </a:p>
          <a:p xmlns:a="http://schemas.openxmlformats.org/drawingml/2006/main">
            <a:r>
              <a:t>- 项目组结论（2026-08-07）：组件、整机、出厂检验合并为 Machine 整机模板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G:\TestBench\testbench_new\Bots.TestBench\14.Documents\测试平台拆分方案.docx，2.2《模板体系》与 2.4《仓库规划》</a:t>
            </a:r>
          </a:p>
          <a:p xmlns:a="http://schemas.openxmlformats.org/drawingml/2006/main">
            <a:r>
              <a:t>- 项目组结论（2026-08-07）：组件、整机、出厂检验合并为 Machine 整机模板</a:t>
            </a:r>
          </a:p>
          <a:p xmlns:a="http://schemas.openxmlformats.org/drawingml/2006/main">
            <a:r>
              <a:t>- G:\WPFCli\Template\template.config.json</a:t>
            </a:r>
          </a:p>
          <a:p xmlns:a="http://schemas.openxmlformats.org/drawingml/2006/main">
            <a:r>
              <a:t>- G:\WPFCli\Template\Common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G:\TestBench\testbench_new\Bots.TestBench\14.Documents\测试平台拆分方案.docx</a:t>
            </a:r>
          </a:p>
          <a:p xmlns:a="http://schemas.openxmlformats.org/drawingml/2006/main">
            <a:r>
              <a:t>- 项目组结论（2026-08-07）：组件、整机、出厂检验合并为 Machine 整机模板</a:t>
            </a:r>
          </a:p>
          <a:p xmlns:a="http://schemas.openxmlformats.org/drawingml/2006/main">
            <a:r>
              <a:t>- G:\WPFCli\Template\*\template.config.json</a:t>
            </a:r>
          </a:p>
          <a:p xmlns:a="http://schemas.openxmlformats.org/drawingml/2006/main">
            <a:r>
              <a:t>- G:\WPFCli\WPFCli\Engine\BuildPipeline.cs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项目组结论（2026-08-07）：组件、整机、出厂检验合并为 Machine 整机模板</a:t>
            </a:r>
          </a:p>
          <a:p xmlns:a="http://schemas.openxmlformats.org/drawingml/2006/main">
            <a:r>
              <a:t>- G:\WPFCli\Template\*\template.config.json</a:t>
            </a:r>
          </a:p>
          <a:p xmlns:a="http://schemas.openxmlformats.org/drawingml/2006/main">
            <a:r>
              <a:t>- G:\WPFCli\Template（2026-08-07 本地文件统计）</a:t>
            </a:r>
          </a:p>
          <a:p xmlns:a="http://schemas.openxmlformats.org/drawingml/2006/main">
            <a:r>
              <a:t>- G:\WPFCli\WPFCli\Engine\TemplateCatalog.cs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G:\WPFCli\WPFCli\Program.cs</a:t>
            </a:r>
          </a:p>
          <a:p xmlns:a="http://schemas.openxmlformats.org/drawingml/2006/main">
            <a:r>
              <a:t>- G:\WPFCli\WPFCli\Engine\TemplateCatalog.cs</a:t>
            </a:r>
          </a:p>
          <a:p xmlns:a="http://schemas.openxmlformats.org/drawingml/2006/main">
            <a:r>
              <a:t>- G:\WPFCli\WPFCli\Engine\BuildPipeline.cs</a:t>
            </a:r>
          </a:p>
          <a:p xmlns:a="http://schemas.openxmlformats.org/drawingml/2006/main">
            <a:r>
              <a:t>- G:\WPFCli\WPFCli\Engine\TemplateBuilder.cs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G:\WPFCli\WPFCli\Engine\BuildPipeline.cs</a:t>
            </a:r>
          </a:p>
          <a:p xmlns:a="http://schemas.openxmlformats.org/drawingml/2006/main">
            <a:r>
              <a:t>- G:\WPFCli\WPFCli.Tests\ScaffolderIntegrationTests.cs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项目组结论（2026-08-07）：组件、整机、出厂检验合并为 Machine 整机模板</a:t>
            </a:r>
          </a:p>
          <a:p xmlns:a="http://schemas.openxmlformats.org/drawingml/2006/main">
            <a:r>
              <a:t>- G:\WPFCli\WPFCli\Engine\TemplateBuilder.cs</a:t>
            </a:r>
          </a:p>
          <a:p xmlns:a="http://schemas.openxmlformats.org/drawingml/2006/main">
            <a:r>
              <a:t>- G:\WPFCli\WPFCli.Tests\ScaffolderIntegrationTests.cs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G:\WPFCli\WPFCli\Engine\ReferencesAdapter.cs</a:t>
            </a:r>
          </a:p>
          <a:p xmlns:a="http://schemas.openxmlformats.org/drawingml/2006/main">
            <a:r>
              <a:t>- G:\WPFCli\WPFCli.Tests\ReferencesAdapterTests.cs</a:t>
            </a:r>
          </a:p>
          <a:p xmlns:a="http://schemas.openxmlformats.org/drawingml/2006/main">
            <a:r>
              <a:t>- G:\WPFCli\References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G:\TestBench\testbench_new\Bots.TestBench\14.Documents\测试平台拆分方案.docx，4.1《模板分层架构》</a:t>
            </a:r>
          </a:p>
          <a:p xmlns:a="http://schemas.openxmlformats.org/drawingml/2006/main">
            <a:r>
              <a:t>- 项目组结论（2026-08-07）：组件、整机、出厂检验合并为 Machine 整机模板</a:t>
            </a:r>
          </a:p>
          <a:p xmlns:a="http://schemas.openxmlformats.org/drawingml/2006/main">
            <a:r>
              <a:t>- G:\WPFCli\Template\Common</a:t>
            </a:r>
          </a:p>
          <a:p xmlns:a="http://schemas.openxmlformats.org/drawingml/2006/main">
            <a:r>
              <a:t>- G:\WPFCli\Template\Machine\src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G:\TestBench\testbench_new\Bots.TestBench\14.Documents\测试平台拆分方案.docx，4.3《软件运行时实现架构》</a:t>
            </a:r>
          </a:p>
          <a:p xmlns:a="http://schemas.openxmlformats.org/drawingml/2006/main">
            <a:r>
              <a:t>- G:\WPFCli\Template\Machine\src\08.App\TESTRIG.App\App.xaml.cs</a:t>
            </a:r>
          </a:p>
          <a:p xmlns:a="http://schemas.openxmlformats.org/drawingml/2006/main">
            <a:r>
              <a:t>- G:\WPFCli\Template\Common\src\01.Core\TESTRIG.Core.Engine\TestRunner.cs</a:t>
            </a:r>
          </a:p>
          <a:p xmlns:a="http://schemas.openxmlformats.org/drawingml/2006/main">
            <a:r>
              <a:t>- G:\WPFCli\Template\Machine\src\05.Jigs\TESTRIG.Jigs\JigCatalog.cs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G:\TestBench\testbench_new\Bots.TestBench\14.Documents\测试平台拆分方案.docx，4.4《模板使用方式》</a:t>
            </a:r>
          </a:p>
          <a:p xmlns:a="http://schemas.openxmlformats.org/drawingml/2006/main">
            <a:r>
              <a:t>- 项目组结论（2026-08-07）：组件、整机、出厂检验合并为 Machine 整机模板</a:t>
            </a:r>
          </a:p>
          <a:p xmlns:a="http://schemas.openxmlformats.org/drawingml/2006/main">
            <a:r>
              <a:t>- G:\WPFCli\WPFCli\Program.cs</a:t>
            </a:r>
          </a:p>
          <a:p xmlns:a="http://schemas.openxmlformats.org/drawingml/2006/main">
            <a:r>
              <a:t>- G:\WPFCli\Template\Machine\src\03.Devices</a:t>
            </a:r>
          </a:p>
          <a:p xmlns:a="http://schemas.openxmlformats.org/drawingml/2006/main">
            <a:r>
              <a:t>- G:\WPFCli\Template\Machine\src\04.TestSteps</a:t>
            </a:r>
          </a:p>
          <a:p xmlns:a="http://schemas.openxmlformats.org/drawingml/2006/main">
            <a:r>
              <a:t>- G:\WPFCli\Template\Machine\src\05.Jigs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G:\WPFCli\WPFCli.Tests（2026-08-07：31 通过，0 失败）</a:t>
            </a:r>
          </a:p>
          <a:p xmlns:a="http://schemas.openxmlformats.org/drawingml/2006/main">
            <a:r>
              <a:t>- G:\WPFCli\WPFCli.Tests\ScaffolderIntegrationTests.cs</a:t>
            </a:r>
          </a:p>
          <a:p xmlns:a="http://schemas.openxmlformats.org/drawingml/2006/main">
            <a:r>
              <a:t>- G:\WPFCli 本地执行：dotnet run -- --biz machine --code PPTDEMO --dry-run --no-build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本页展示的是当前已执行验证；并不替代后续真机、全量业务回归与生成项目 Release 编译验收。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G:\TestBench\testbench_new\Bots.TestBench\14.Documents\测试平台拆分方案.docx，第五章《实施路线图》</a:t>
            </a:r>
          </a:p>
          <a:p xmlns:a="http://schemas.openxmlformats.org/drawingml/2006/main">
            <a:r>
              <a:t>- 项目组结论（2026-08-07）：组件、整机、出厂检验合并为 Machine 整机模板</a:t>
            </a:r>
          </a:p>
          <a:p xmlns:a="http://schemas.openxmlformats.org/drawingml/2006/main">
            <a:r>
              <a:t>- G:\WPFCli\WPFCli.Tests\ScaffolderIntegrationTests.cs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G:\TestBench\testbench_new\Bots.TestBench\14.Documents\测试平台拆分方案.docx，3.3《拆分难易程度》</a:t>
            </a:r>
          </a:p>
          <a:p xmlns:a="http://schemas.openxmlformats.org/drawingml/2006/main">
            <a:r>
              <a:t>- 项目组结论（2026-08-07）：组件、整机、出厂检验合并为 Machine 整机模板</a:t>
            </a:r>
          </a:p>
          <a:p xmlns:a="http://schemas.openxmlformats.org/drawingml/2006/main">
            <a:r>
              <a:t>- G:\WPFCli\WPFCli\Engine\ReferencesAdapter.cs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G:\TestBench\testbench_new\Bots.TestBench\14.Documents\测试平台拆分方案.docx，第五章《实施路线图》与第六章《结论》</a:t>
            </a:r>
          </a:p>
          <a:p xmlns:a="http://schemas.openxmlformats.org/drawingml/2006/main">
            <a:r>
              <a:t>- 项目组结论（2026-08-07）：组件、整机、出厂检验合并为 Machine 整机模板</a:t>
            </a:r>
          </a:p>
          <a:p xmlns:a="http://schemas.openxmlformats.org/drawingml/2006/main">
            <a:r>
              <a:t>- G:\WPFCli\Template\*\template.config.json</a:t>
            </a:r>
          </a:p>
          <a:p xmlns:a="http://schemas.openxmlformats.org/drawingml/2006/main">
            <a:r>
              <a:t>- G:\WPFCli\WPFCli.Tests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5a3e950b8644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c52e0b0d3c426e" /><Relationship Type="http://schemas.openxmlformats.org/officeDocument/2006/relationships/slideLayout" Target="/ppt/slideLayouts/slideLayout1.xml" Id="R186ff660fe6042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6ff660fe6042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b70ae49444bca" /><Relationship Type="http://schemas.openxmlformats.org/officeDocument/2006/relationships/notesSlide" Target="/ppt/notesSlides/notesSlide1.xml" Id="Rfabbb645081c4c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c3702a16d45fd" /><Relationship Type="http://schemas.openxmlformats.org/officeDocument/2006/relationships/notesSlide" Target="/ppt/notesSlides/notesSlide2.xml" Id="Rc10de970ebd24d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3d726fb6f4a2e" /><Relationship Type="http://schemas.openxmlformats.org/officeDocument/2006/relationships/notesSlide" Target="/ppt/notesSlides/notesSlide3.xml" Id="R9141a229123345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07d5a402a4a7d" /><Relationship Type="http://schemas.openxmlformats.org/officeDocument/2006/relationships/notesSlide" Target="/ppt/notesSlides/notesSlide4.xml" Id="Rb4233aa3e44843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4e5e9cfb84fdc" /><Relationship Type="http://schemas.openxmlformats.org/officeDocument/2006/relationships/notesSlide" Target="/ppt/notesSlides/notesSlide5.xml" Id="Ra0b35eb536e647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22436a5e14f7d" /><Relationship Type="http://schemas.openxmlformats.org/officeDocument/2006/relationships/notesSlide" Target="/ppt/notesSlides/notesSlide6.xml" Id="R6b49022c1bea40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db62ba5e44b19" /><Relationship Type="http://schemas.openxmlformats.org/officeDocument/2006/relationships/notesSlide" Target="/ppt/notesSlides/notesSlide7.xml" Id="R684b30644cb542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bd0b88b244e53" /><Relationship Type="http://schemas.openxmlformats.org/officeDocument/2006/relationships/notesSlide" Target="/ppt/notesSlides/notesSlide8.xml" Id="R384ece6c057f43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95bfde9724a7a" /><Relationship Type="http://schemas.openxmlformats.org/officeDocument/2006/relationships/notesSlide" Target="/ppt/notesSlides/notesSlide9.xml" Id="R4815e258a1d541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257c3ea204ca7" /><Relationship Type="http://schemas.openxmlformats.org/officeDocument/2006/relationships/notesSlide" Target="/ppt/notesSlides/notesSlide10.xml" Id="R9d1e0640713a45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963527b234e19" /><Relationship Type="http://schemas.openxmlformats.org/officeDocument/2006/relationships/notesSlide" Target="/ppt/notesSlides/notesSlide11.xml" Id="R108d18b020bf4b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6aaa8c7224710" /><Relationship Type="http://schemas.openxmlformats.org/officeDocument/2006/relationships/notesSlide" Target="/ppt/notesSlides/notesSlide12.xml" Id="R8c65d2e06f9143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3322db5d84900" /><Relationship Type="http://schemas.openxmlformats.org/officeDocument/2006/relationships/notesSlide" Target="/ppt/notesSlides/notesSlide13.xml" Id="R55a6e3f5ad86485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adc8f8015470c" /><Relationship Type="http://schemas.openxmlformats.org/officeDocument/2006/relationships/notesSlide" Target="/ppt/notesSlides/notesSlide14.xml" Id="Rbdd2ee90ff68417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b5cb7855b457f" /><Relationship Type="http://schemas.openxmlformats.org/officeDocument/2006/relationships/notesSlide" Target="/ppt/notesSlides/notesSlide15.xml" Id="Re71d0e8ddfcd464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317c9ae114bbb" /><Relationship Type="http://schemas.openxmlformats.org/officeDocument/2006/relationships/notesSlide" Target="/ppt/notesSlides/notesSlide16.xml" Id="R269529151294411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79f0d594a4654" /><Relationship Type="http://schemas.openxmlformats.org/officeDocument/2006/relationships/notesSlide" Target="/ppt/notesSlides/notesSlide17.xml" Id="Re42ab15f631544a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19705c43e4445" /><Relationship Type="http://schemas.openxmlformats.org/officeDocument/2006/relationships/notesSlide" Target="/ppt/notesSlides/notesSlide18.xml" Id="R0677add55dbc42d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3-1">
            <a:extLst xmlns:a="http://schemas.openxmlformats.org/drawingml/2006/main">
              <a:ext uri="{FF2B5EF4-FFF2-40B4-BE49-F238E27FC236}">
                <a16:creationId xmlns:a16="http://schemas.microsoft.com/office/drawing/2014/main" id="{EC76B580-EB00-45C0-8980-64DD958B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测试平台
软件改造方案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099EBA3-4B28-4C08-AB24-28232809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从单体任务混编到可生成、可验证的多业务测试平台
面向项目组成员与项目经理 · 2026-08-07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D1603767-3771-4039-B076-F54067A0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rPr>
              <a:t>WPFCli / TestRig CLI</a:t>
            </a:r>
          </a:p>
        </p:txBody>
      </p:sp>
      <p:sp>
        <p:nvSpPr>
          <p:cNvPr id="4" name="box-1042-182">
            <a:extLst xmlns:a="http://schemas.openxmlformats.org/drawingml/2006/main">
              <a:ext uri="{FF2B5EF4-FFF2-40B4-BE49-F238E27FC236}">
                <a16:creationId xmlns:a16="http://schemas.microsoft.com/office/drawing/2014/main" id="{E8783C1C-E87F-4C35-9BEF-9531DC04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733550"/>
            <a:ext cx="1333500" cy="13335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1888D4"/>
            </a:solidFill>
            <a:prstDash val="solid"/>
          </a:ln>
        </p:spPr>
      </p:sp>
      <p:sp>
        <p:nvSpPr>
          <p:cNvPr id="5" name="text-1067-205">
            <a:extLst xmlns:a="http://schemas.openxmlformats.org/drawingml/2006/main">
              <a:ext uri="{FF2B5EF4-FFF2-40B4-BE49-F238E27FC236}">
                <a16:creationId xmlns:a16="http://schemas.microsoft.com/office/drawing/2014/main" id="{FA4647C4-D6E4-45FB-B123-D9FC4F20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195262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rPr>
              <a:t>拆</a:t>
            </a:r>
          </a:p>
        </p:txBody>
      </p:sp>
      <p:sp>
        <p:nvSpPr>
          <p:cNvPr id="6" name="text-1065-262">
            <a:extLst xmlns:a="http://schemas.openxmlformats.org/drawingml/2006/main">
              <a:ext uri="{FF2B5EF4-FFF2-40B4-BE49-F238E27FC236}">
                <a16:creationId xmlns:a16="http://schemas.microsoft.com/office/drawing/2014/main" id="{4A2BFA99-DD23-416C-BF8B-070073A0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495550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分层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模板化</a:t>
            </a:r>
          </a:p>
        </p:txBody>
      </p:sp>
    </p:spTree>
    <p:extLst>
      <p:ext uri="{BB962C8B-B14F-4D97-AF65-F5344CB8AC3E}">
        <p14:creationId xmlns:p14="http://schemas.microsoft.com/office/powerpoint/2010/main" val="19202567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8CA50E7E-0261-4657-B3CC-242493AA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B4D0355F-6197-485D-925E-4693CDE8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E3B7DBED-1AB4-4208-A8B3-32AFDBB4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61F806D2-32A8-4CAC-B36B-D8D5A831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9C9B6BC2-41FA-46A4-A7F3-6C452409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单体平台的规模已经让一次修改牵动整个测试体系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40260AD-2B15-4A4F-B15B-1A1F99E6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工程挤在同一解决方案
另有 28 个游离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7DC3AF0-3ED9-458A-A1BC-1019011C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老化脚本巨型化
ScriptBase.cs 约 1 MB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80F84227-01EA-4997-9D2F-958C2EC3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UI.Common / Device.Base
引用范围失控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78E5BFAA-595C-4608-A47A-C56856B3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rPr>
              <a:t>192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947346B9-F06E-4E4A-8731-789653CA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C64242"/>
                </a:solidFill>
                <a:latin typeface="Microsoft YaHei"/>
                <a:ea typeface="Microsoft YaHei"/>
                <a:cs typeface="Microsoft YaHei"/>
              </a:rPr>
              <a:t>40+ / 80+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2340F383-E920-42D1-9CE8-F9DAAE42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D68012"/>
                </a:solidFill>
                <a:latin typeface="Microsoft YaHei"/>
                <a:ea typeface="Microsoft YaHei"/>
                <a:cs typeface="Microsoft YaHei"/>
              </a:rPr>
              <a:t>约 83 万行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FB1767FF-0A70-40E6-92E4-73B3EDC1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rPr>
              <a:t>现状证据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220 个工程散布在磁盘，业务任务、设备实现和公共层交叉依赖；其中 218 个仍是旧式 .NET Framework 工程。</a:t>
            </a:r>
          </a:p>
        </p:txBody>
      </p:sp>
      <p:sp>
        <p:nvSpPr>
          <p:cNvPr id="13" name="box-22-36">
            <a:extLst xmlns:a="http://schemas.openxmlformats.org/drawingml/2006/main">
              <a:ext uri="{FF2B5EF4-FFF2-40B4-BE49-F238E27FC236}">
                <a16:creationId xmlns:a16="http://schemas.microsoft.com/office/drawing/2014/main" id="{D22930B3-DF18-425E-901E-AEEBA9CC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42900"/>
            <a:ext cx="47625" cy="4572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8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-1080-34">
            <a:extLst xmlns:a="http://schemas.openxmlformats.org/drawingml/2006/main">
              <a:ext uri="{FF2B5EF4-FFF2-40B4-BE49-F238E27FC236}">
                <a16:creationId xmlns:a16="http://schemas.microsoft.com/office/drawing/2014/main" id="{4549B122-0EC9-41AB-83D0-546E2084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61925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1090-42">
            <a:extLst xmlns:a="http://schemas.openxmlformats.org/drawingml/2006/main">
              <a:ext uri="{FF2B5EF4-FFF2-40B4-BE49-F238E27FC236}">
                <a16:creationId xmlns:a16="http://schemas.microsoft.com/office/drawing/2014/main" id="{BD0F72F8-2A3E-47F3-9977-58F37A98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现状问题</a:t>
            </a:r>
          </a:p>
        </p:txBody>
      </p:sp>
    </p:spTree>
    <p:extLst>
      <p:ext uri="{BB962C8B-B14F-4D97-AF65-F5344CB8AC3E}">
        <p14:creationId xmlns:p14="http://schemas.microsoft.com/office/powerpoint/2010/main" val="18910126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box-22-36">
            <a:extLst xmlns:a="http://schemas.openxmlformats.org/drawingml/2006/main">
              <a:ext uri="{FF2B5EF4-FFF2-40B4-BE49-F238E27FC236}">
                <a16:creationId xmlns:a16="http://schemas.microsoft.com/office/drawing/2014/main" id="{6B6368ED-905C-4C5B-898B-1599F8A5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42900"/>
            <a:ext cx="47625" cy="4572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8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EF9EE6B-E65E-4EA0-B2FA-11305EE3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根因是多类任务混编在产品工程</a:t>
            </a:r>
          </a:p>
        </p:txBody>
      </p:sp>
      <p:sp>
        <p:nvSpPr>
          <p:cNvPr id="3" name="text-1060-42">
            <a:extLst xmlns:a="http://schemas.openxmlformats.org/drawingml/2006/main">
              <a:ext uri="{FF2B5EF4-FFF2-40B4-BE49-F238E27FC236}">
                <a16:creationId xmlns:a16="http://schemas.microsoft.com/office/drawing/2014/main" id="{B11190FA-D4F4-4315-9C62-D97BA212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现状问题</a:t>
            </a:r>
          </a:p>
        </p:txBody>
      </p:sp>
      <p:sp>
        <p:nvSpPr>
          <p:cNvPr id="4" name="text-1184-658">
            <a:extLst xmlns:a="http://schemas.openxmlformats.org/drawingml/2006/main">
              <a:ext uri="{FF2B5EF4-FFF2-40B4-BE49-F238E27FC236}">
                <a16:creationId xmlns:a16="http://schemas.microsoft.com/office/drawing/2014/main" id="{D81026B0-32FF-4AA9-9FD5-76A4DDE4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" name="text-42-112">
            <a:extLst xmlns:a="http://schemas.openxmlformats.org/drawingml/2006/main">
              <a:ext uri="{FF2B5EF4-FFF2-40B4-BE49-F238E27FC236}">
                <a16:creationId xmlns:a16="http://schemas.microsoft.com/office/drawing/2014/main" id="{5C7BA54C-8370-41DB-986E-F0AF0002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Type 0/1/2 结构一致，差异集中在业务逻辑；模板应合并，业务变体保留。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9B965-1DC9-4F67-AE1D-FAA0EBE3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162300"/>
            <a:ext cx="742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82C02-1D6B-4256-B57F-086D9190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62300"/>
            <a:ext cx="742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box-42-204">
            <a:extLst xmlns:a="http://schemas.openxmlformats.org/drawingml/2006/main">
              <a:ext uri="{FF2B5EF4-FFF2-40B4-BE49-F238E27FC236}">
                <a16:creationId xmlns:a16="http://schemas.microsoft.com/office/drawing/2014/main" id="{CB1AFAC8-1CFE-4444-8E36-5743FBEB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3190875" cy="3105150"/>
          </a:xfrm>
          <a:prstGeom xmlns:a="http://schemas.openxmlformats.org/drawingml/2006/main" prst="roundRect">
            <a:avLst>
              <a:gd name="adj" fmla="val 61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-68-230">
            <a:extLst xmlns:a="http://schemas.openxmlformats.org/drawingml/2006/main">
              <a:ext uri="{FF2B5EF4-FFF2-40B4-BE49-F238E27FC236}">
                <a16:creationId xmlns:a16="http://schemas.microsoft.com/office/drawing/2014/main" id="{C659EDB0-32C1-4A09-91A1-D908D7D4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337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产品工程 UI.P06 / UI.P25 / UI.T01</a:t>
            </a:r>
          </a:p>
        </p:txBody>
      </p:sp>
      <p:sp>
        <p:nvSpPr>
          <p:cNvPr id="10" name="box-70-292">
            <a:extLst xmlns:a="http://schemas.openxmlformats.org/drawingml/2006/main">
              <a:ext uri="{FF2B5EF4-FFF2-40B4-BE49-F238E27FC236}">
                <a16:creationId xmlns:a16="http://schemas.microsoft.com/office/drawing/2014/main" id="{509AE754-F56C-4727-9A54-2B5AC82F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9144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D680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76-299">
            <a:extLst xmlns:a="http://schemas.openxmlformats.org/drawingml/2006/main">
              <a:ext uri="{FF2B5EF4-FFF2-40B4-BE49-F238E27FC236}">
                <a16:creationId xmlns:a16="http://schemas.microsoft.com/office/drawing/2014/main" id="{9433F7CD-7C64-4CFC-818C-ABAD06BC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Type 0</a:t>
            </a:r>
          </a:p>
        </p:txBody>
      </p:sp>
      <p:sp>
        <p:nvSpPr>
          <p:cNvPr id="12" name="text-184-296">
            <a:extLst xmlns:a="http://schemas.openxmlformats.org/drawingml/2006/main">
              <a:ext uri="{FF2B5EF4-FFF2-40B4-BE49-F238E27FC236}">
                <a16:creationId xmlns:a16="http://schemas.microsoft.com/office/drawing/2014/main" id="{57B35D82-F765-49C5-B85F-CFC78169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194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出厂检验：JSON + 脚本 + VM/View</a:t>
            </a:r>
          </a:p>
        </p:txBody>
      </p:sp>
      <p:sp>
        <p:nvSpPr>
          <p:cNvPr id="13" name="box-70-344">
            <a:extLst xmlns:a="http://schemas.openxmlformats.org/drawingml/2006/main">
              <a:ext uri="{FF2B5EF4-FFF2-40B4-BE49-F238E27FC236}">
                <a16:creationId xmlns:a16="http://schemas.microsoft.com/office/drawing/2014/main" id="{D74F0AE2-AF8B-4180-8CD6-5741A61A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9144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88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76-351">
            <a:extLst xmlns:a="http://schemas.openxmlformats.org/drawingml/2006/main">
              <a:ext uri="{FF2B5EF4-FFF2-40B4-BE49-F238E27FC236}">
                <a16:creationId xmlns:a16="http://schemas.microsoft.com/office/drawing/2014/main" id="{F5287D28-4120-4CC9-8450-34641B41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Type 1</a:t>
            </a:r>
          </a:p>
        </p:txBody>
      </p:sp>
      <p:sp>
        <p:nvSpPr>
          <p:cNvPr id="15" name="text-184-348">
            <a:extLst xmlns:a="http://schemas.openxmlformats.org/drawingml/2006/main">
              <a:ext uri="{FF2B5EF4-FFF2-40B4-BE49-F238E27FC236}">
                <a16:creationId xmlns:a16="http://schemas.microsoft.com/office/drawing/2014/main" id="{2B7D0438-5DDE-4FD5-AE8C-008C09A6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147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组件测试：JSON + 脚本 + VM/View</a:t>
            </a:r>
          </a:p>
        </p:txBody>
      </p:sp>
      <p:sp>
        <p:nvSpPr>
          <p:cNvPr id="16" name="box-70-396">
            <a:extLst xmlns:a="http://schemas.openxmlformats.org/drawingml/2006/main">
              <a:ext uri="{FF2B5EF4-FFF2-40B4-BE49-F238E27FC236}">
                <a16:creationId xmlns:a16="http://schemas.microsoft.com/office/drawing/2014/main" id="{B50FBA29-7797-4F8A-A200-617B9555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9144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18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76-403">
            <a:extLst xmlns:a="http://schemas.openxmlformats.org/drawingml/2006/main">
              <a:ext uri="{FF2B5EF4-FFF2-40B4-BE49-F238E27FC236}">
                <a16:creationId xmlns:a16="http://schemas.microsoft.com/office/drawing/2014/main" id="{14E92A46-92E4-42C8-AFD7-54D33EF1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Type 2</a:t>
            </a:r>
          </a:p>
        </p:txBody>
      </p:sp>
      <p:sp>
        <p:nvSpPr>
          <p:cNvPr id="18" name="text-184-400">
            <a:extLst xmlns:a="http://schemas.openxmlformats.org/drawingml/2006/main">
              <a:ext uri="{FF2B5EF4-FFF2-40B4-BE49-F238E27FC236}">
                <a16:creationId xmlns:a16="http://schemas.microsoft.com/office/drawing/2014/main" id="{8D4F269A-4AD7-4301-B4F8-673E48E1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8100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整机测试：JSON + 脚本 + VM/View</a:t>
            </a:r>
          </a:p>
        </p:txBody>
      </p:sp>
      <p:sp>
        <p:nvSpPr>
          <p:cNvPr id="19" name="box-70-448">
            <a:extLst xmlns:a="http://schemas.openxmlformats.org/drawingml/2006/main">
              <a:ext uri="{FF2B5EF4-FFF2-40B4-BE49-F238E27FC236}">
                <a16:creationId xmlns:a16="http://schemas.microsoft.com/office/drawing/2014/main" id="{9F830873-D0B2-4D41-B0A1-6D0964F3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9144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C642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76-455">
            <a:extLst xmlns:a="http://schemas.openxmlformats.org/drawingml/2006/main">
              <a:ext uri="{FF2B5EF4-FFF2-40B4-BE49-F238E27FC236}">
                <a16:creationId xmlns:a16="http://schemas.microsoft.com/office/drawing/2014/main" id="{956F9552-3790-4089-AA1C-652AF097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Type 4</a:t>
            </a:r>
          </a:p>
        </p:txBody>
      </p:sp>
      <p:sp>
        <p:nvSpPr>
          <p:cNvPr id="21" name="text-184-452">
            <a:extLst xmlns:a="http://schemas.openxmlformats.org/drawingml/2006/main">
              <a:ext uri="{FF2B5EF4-FFF2-40B4-BE49-F238E27FC236}">
                <a16:creationId xmlns:a16="http://schemas.microsoft.com/office/drawing/2014/main" id="{8D5D7529-2845-499F-9764-C3BA7FDE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053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老化：JSON + 脚本 + VM/View</a:t>
            </a:r>
          </a:p>
        </p:txBody>
      </p:sp>
      <p:sp>
        <p:nvSpPr>
          <p:cNvPr id="22" name="box-454-204">
            <a:extLst xmlns:a="http://schemas.openxmlformats.org/drawingml/2006/main">
              <a:ext uri="{FF2B5EF4-FFF2-40B4-BE49-F238E27FC236}">
                <a16:creationId xmlns:a16="http://schemas.microsoft.com/office/drawing/2014/main" id="{ED848C89-66C2-42A2-AC65-870F29B4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43100"/>
            <a:ext cx="3524250" cy="3105150"/>
          </a:xfrm>
          <a:prstGeom xmlns:a="http://schemas.openxmlformats.org/drawingml/2006/main" prst="roundRect">
            <a:avLst>
              <a:gd name="adj" fmla="val 613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242"/>
            </a:solidFill>
            <a:prstDash val="solid"/>
          </a:ln>
        </p:spPr>
      </p:sp>
      <p:sp>
        <p:nvSpPr>
          <p:cNvPr id="23" name="text-484-230">
            <a:extLst xmlns:a="http://schemas.openxmlformats.org/drawingml/2006/main">
              <a:ext uri="{FF2B5EF4-FFF2-40B4-BE49-F238E27FC236}">
                <a16:creationId xmlns:a16="http://schemas.microsoft.com/office/drawing/2014/main" id="{7C030596-EEED-4D86-86D4-A3636579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907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642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64242"/>
                </a:solidFill>
                <a:latin typeface="Microsoft YaHei"/>
                <a:ea typeface="Microsoft YaHei"/>
                <a:cs typeface="Microsoft YaHei"/>
              </a:rPr>
              <a:t>混编后的直接后果</a:t>
            </a:r>
          </a:p>
        </p:txBody>
      </p:sp>
      <p:sp>
        <p:nvSpPr>
          <p:cNvPr id="24" name="text-486-292">
            <a:extLst xmlns:a="http://schemas.openxmlformats.org/drawingml/2006/main">
              <a:ext uri="{FF2B5EF4-FFF2-40B4-BE49-F238E27FC236}">
                <a16:creationId xmlns:a16="http://schemas.microsoft.com/office/drawing/2014/main" id="{7B9788CD-1FCB-4CCC-898E-708B7FE5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81300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01  无法按业务独立发布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02  变更影响面无法预测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03  脚本复用依赖复制粘贴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04  回归测试只能全量进行</a:t>
            </a:r>
          </a:p>
        </p:txBody>
      </p:sp>
      <p:sp>
        <p:nvSpPr>
          <p:cNvPr id="25" name="box-902-204">
            <a:extLst xmlns:a="http://schemas.openxmlformats.org/drawingml/2006/main">
              <a:ext uri="{FF2B5EF4-FFF2-40B4-BE49-F238E27FC236}">
                <a16:creationId xmlns:a16="http://schemas.microsoft.com/office/drawing/2014/main" id="{1BD1C2BC-6334-4DF0-8F9D-21DB67B1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43100"/>
            <a:ext cx="3200400" cy="3105150"/>
          </a:xfrm>
          <a:prstGeom xmlns:a="http://schemas.openxmlformats.org/drawingml/2006/main" prst="roundRect">
            <a:avLst>
              <a:gd name="adj" fmla="val 61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1888D4"/>
            </a:solidFill>
            <a:prstDash val="solid"/>
          </a:ln>
        </p:spPr>
      </p:sp>
      <p:sp>
        <p:nvSpPr>
          <p:cNvPr id="26" name="text-930-230">
            <a:extLst xmlns:a="http://schemas.openxmlformats.org/drawingml/2006/main">
              <a:ext uri="{FF2B5EF4-FFF2-40B4-BE49-F238E27FC236}">
                <a16:creationId xmlns:a16="http://schemas.microsoft.com/office/drawing/2014/main" id="{5FEF4CE3-9CFF-4089-B7FB-B87F25E9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rPr>
              <a:t>应拆出的真实单元</a:t>
            </a:r>
          </a:p>
        </p:txBody>
      </p:sp>
      <p:sp>
        <p:nvSpPr>
          <p:cNvPr id="27" name="text-930-296">
            <a:extLst xmlns:a="http://schemas.openxmlformats.org/drawingml/2006/main">
              <a:ext uri="{FF2B5EF4-FFF2-40B4-BE49-F238E27FC236}">
                <a16:creationId xmlns:a16="http://schemas.microsoft.com/office/drawing/2014/main" id="{18562EB4-EF28-4F64-9838-06025340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 JSON</a:t>
            </a:r>
          </a:p>
        </p:txBody>
      </p:sp>
      <p:sp>
        <p:nvSpPr>
          <p:cNvPr id="28" name="text-930-348">
            <a:extLst xmlns:a="http://schemas.openxmlformats.org/drawingml/2006/main">
              <a:ext uri="{FF2B5EF4-FFF2-40B4-BE49-F238E27FC236}">
                <a16:creationId xmlns:a16="http://schemas.microsoft.com/office/drawing/2014/main" id="{A7E184F2-F21C-42AC-A419-3FD61DEE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14700"/>
            <a:ext cx="238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+ 对应测试项实现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+ 对应 ViewModel / View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+ 设备与数据契约</a:t>
            </a:r>
          </a:p>
        </p:txBody>
      </p:sp>
      <p:sp>
        <p:nvSpPr>
          <p:cNvPr id="29" name="text-930-478">
            <a:extLst xmlns:a="http://schemas.openxmlformats.org/drawingml/2006/main">
              <a:ext uri="{FF2B5EF4-FFF2-40B4-BE49-F238E27FC236}">
                <a16:creationId xmlns:a16="http://schemas.microsoft.com/office/drawing/2014/main" id="{EEDFB6EC-00F0-471A-B0BF-3F02859C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529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业务语义保持不变，只调整归属与程序集边界。</a:t>
            </a:r>
          </a:p>
        </p:txBody>
      </p:sp>
    </p:spTree>
    <p:extLst>
      <p:ext uri="{BB962C8B-B14F-4D97-AF65-F5344CB8AC3E}">
        <p14:creationId xmlns:p14="http://schemas.microsoft.com/office/powerpoint/2010/main" val="8391588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0F2CC42-2531-47AE-BD4F-0A94DEE5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D76D6D2-47B6-44B6-AD2E-3BB19345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任务仍是迁移单元，模板按共性结构合并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F65F04D2-BC65-4CFA-9383-F0F518B7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55E798A-77B5-4134-8B18-108BC2FC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Common 长期稳定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公共引擎与基础设施独立版本化，业务模板不反向污染。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4A747D96-F7E8-4A86-8DF6-1406BC5A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57C79A3-E818-4F04-8BAD-1CDC2484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任务成组迁移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JSON + 脚本 + VM/View 同步归属，避免只搬文件不搬语义。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2C0D86D1-3272-46F7-94BA-953FD443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91B49AC7-E55C-43EB-8D9E-474DEEC4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Machine 统一交付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同一产品只生成一个 Machine App；组件、整机、出厂按 Type 装配逻辑。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8305E4C7-ACF3-423B-9974-DC8C3CA2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CDCB97E3-771D-4029-83D0-DF2D04A7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运行框架解耦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TestRunner 只认识 Manifest、IStepHandler 与设备契约。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69948EEC-D9F8-4C56-9AD5-B4B4588E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rPr>
              <a:t>四条约束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先识别共性与差异；Type 0/1/2 统一归入 Machine，仅业务逻辑按变体隔离。</a:t>
            </a:r>
          </a:p>
        </p:txBody>
      </p:sp>
      <p:sp>
        <p:nvSpPr>
          <p:cNvPr id="12" name="box-22-36">
            <a:extLst xmlns:a="http://schemas.openxmlformats.org/drawingml/2006/main">
              <a:ext uri="{FF2B5EF4-FFF2-40B4-BE49-F238E27FC236}">
                <a16:creationId xmlns:a16="http://schemas.microsoft.com/office/drawing/2014/main" id="{4F2B0E0E-3052-4AAF-8024-610CDD0F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42900"/>
            <a:ext cx="47625" cy="4572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8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-1080-34">
            <a:extLst xmlns:a="http://schemas.openxmlformats.org/drawingml/2006/main">
              <a:ext uri="{FF2B5EF4-FFF2-40B4-BE49-F238E27FC236}">
                <a16:creationId xmlns:a16="http://schemas.microsoft.com/office/drawing/2014/main" id="{22CC88EF-B24F-4FCD-A526-0D9A0316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61925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090-42">
            <a:extLst xmlns:a="http://schemas.openxmlformats.org/drawingml/2006/main">
              <a:ext uri="{FF2B5EF4-FFF2-40B4-BE49-F238E27FC236}">
                <a16:creationId xmlns:a16="http://schemas.microsoft.com/office/drawing/2014/main" id="{DF6BC3D7-1D59-45DB-89D6-90526B7A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拆分方案</a:t>
            </a:r>
          </a:p>
        </p:txBody>
      </p:sp>
    </p:spTree>
    <p:extLst>
      <p:ext uri="{BB962C8B-B14F-4D97-AF65-F5344CB8AC3E}">
        <p14:creationId xmlns:p14="http://schemas.microsoft.com/office/powerpoint/2010/main" val="17745764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ox-22-36">
            <a:extLst xmlns:a="http://schemas.openxmlformats.org/drawingml/2006/main">
              <a:ext uri="{FF2B5EF4-FFF2-40B4-BE49-F238E27FC236}">
                <a16:creationId xmlns:a16="http://schemas.microsoft.com/office/drawing/2014/main" id="{85E9B796-4695-497B-8611-929A7E58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42900"/>
            <a:ext cx="47625" cy="4572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8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DFBC01EA-D777-453A-A5D1-F1ED729F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901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目标形态：Common + 业务模板，Machine 统一三类业务</a:t>
            </a:r>
          </a:p>
        </p:txBody>
      </p:sp>
      <p:sp>
        <p:nvSpPr>
          <p:cNvPr id="3" name="text-1060-42">
            <a:extLst xmlns:a="http://schemas.openxmlformats.org/drawingml/2006/main">
              <a:ext uri="{FF2B5EF4-FFF2-40B4-BE49-F238E27FC236}">
                <a16:creationId xmlns:a16="http://schemas.microsoft.com/office/drawing/2014/main" id="{44D6A377-D55E-4023-BFF6-B5BF03EE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拆分方案</a:t>
            </a:r>
          </a:p>
        </p:txBody>
      </p:sp>
      <p:sp>
        <p:nvSpPr>
          <p:cNvPr id="4" name="text-1184-658">
            <a:extLst xmlns:a="http://schemas.openxmlformats.org/drawingml/2006/main">
              <a:ext uri="{FF2B5EF4-FFF2-40B4-BE49-F238E27FC236}">
                <a16:creationId xmlns:a16="http://schemas.microsoft.com/office/drawing/2014/main" id="{7B997E2F-6FCA-4301-BDA6-DC0076D2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" name="text-42-112">
            <a:extLst xmlns:a="http://schemas.openxmlformats.org/drawingml/2006/main">
              <a:ext uri="{FF2B5EF4-FFF2-40B4-BE49-F238E27FC236}">
                <a16:creationId xmlns:a16="http://schemas.microsoft.com/office/drawing/2014/main" id="{530E03FE-B90E-471B-A6EC-ABBF6B3B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模板仓库负责共性治理，Machine 只保留业务差异，产品仓库生成独立产物。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16FF4-5385-43F8-807C-9CBA0652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05150"/>
            <a:ext cx="819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88D4"/>
          </a:solidFill>
          <a:ln xmlns:a="http://schemas.openxmlformats.org/drawingml/2006/main" w="0">
            <a:solidFill>
              <a:srgbClr val="1888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8BA6D-4AAB-4E74-BFEB-9F82D740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05150"/>
            <a:ext cx="819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88D4"/>
          </a:solidFill>
          <a:ln xmlns:a="http://schemas.openxmlformats.org/drawingml/2006/main" w="0">
            <a:solidFill>
              <a:srgbClr val="1888D4"/>
            </a:solidFill>
            <a:prstDash val="solid"/>
          </a:ln>
        </p:spPr>
      </p:sp>
      <p:sp>
        <p:nvSpPr>
          <p:cNvPr id="8" name="box-42-186">
            <a:extLst xmlns:a="http://schemas.openxmlformats.org/drawingml/2006/main">
              <a:ext uri="{FF2B5EF4-FFF2-40B4-BE49-F238E27FC236}">
                <a16:creationId xmlns:a16="http://schemas.microsoft.com/office/drawing/2014/main" id="{32973916-C4CE-4E81-A734-2BAE68D2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4362450" cy="3600450"/>
          </a:xfrm>
          <a:prstGeom xmlns:a="http://schemas.openxmlformats.org/drawingml/2006/main" prst="roundRect">
            <a:avLst>
              <a:gd name="adj" fmla="val 529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-70-210">
            <a:extLst xmlns:a="http://schemas.openxmlformats.org/drawingml/2006/main">
              <a:ext uri="{FF2B5EF4-FFF2-40B4-BE49-F238E27FC236}">
                <a16:creationId xmlns:a16="http://schemas.microsoft.com/office/drawing/2014/main" id="{A1352633-0C5B-440D-A946-FF3B489E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bots-testbench-shared</a:t>
            </a:r>
          </a:p>
        </p:txBody>
      </p:sp>
      <p:sp>
        <p:nvSpPr>
          <p:cNvPr id="10" name="text-70-278">
            <a:extLst xmlns:a="http://schemas.openxmlformats.org/drawingml/2006/main">
              <a:ext uri="{FF2B5EF4-FFF2-40B4-BE49-F238E27FC236}">
                <a16:creationId xmlns:a16="http://schemas.microsoft.com/office/drawing/2014/main" id="{8EE43EFF-39D0-4A44-A31B-0B39668A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62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rPr>
              <a:t>Template/Common</a:t>
            </a:r>
          </a:p>
        </p:txBody>
      </p:sp>
      <p:sp>
        <p:nvSpPr>
          <p:cNvPr id="11" name="text-250-278">
            <a:extLst xmlns:a="http://schemas.openxmlformats.org/drawingml/2006/main">
              <a:ext uri="{FF2B5EF4-FFF2-40B4-BE49-F238E27FC236}">
                <a16:creationId xmlns:a16="http://schemas.microsoft.com/office/drawing/2014/main" id="{E8AE377E-8B44-4ED3-9633-BF50A53F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479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074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01.Core + 02.Infrastructure（当前实现）</a:t>
            </a:r>
          </a:p>
        </p:txBody>
      </p:sp>
      <p:sp>
        <p:nvSpPr>
          <p:cNvPr id="12" name="box-70-332">
            <a:extLst xmlns:a="http://schemas.openxmlformats.org/drawingml/2006/main">
              <a:ext uri="{FF2B5EF4-FFF2-40B4-BE49-F238E27FC236}">
                <a16:creationId xmlns:a16="http://schemas.microsoft.com/office/drawing/2014/main" id="{99EF5FC8-9147-4D39-8C8C-B9CCFD6A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3524250" cy="2952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-82-338">
            <a:extLst xmlns:a="http://schemas.openxmlformats.org/drawingml/2006/main">
              <a:ext uri="{FF2B5EF4-FFF2-40B4-BE49-F238E27FC236}">
                <a16:creationId xmlns:a16="http://schemas.microsoft.com/office/drawing/2014/main" id="{A376AACA-9BA5-4FBA-9551-F739E804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3276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Machine   整机模板（组件/整机/出厂）</a:t>
            </a:r>
          </a:p>
        </p:txBody>
      </p:sp>
      <p:sp>
        <p:nvSpPr>
          <p:cNvPr id="14" name="box-70-372">
            <a:extLst xmlns:a="http://schemas.openxmlformats.org/drawingml/2006/main">
              <a:ext uri="{FF2B5EF4-FFF2-40B4-BE49-F238E27FC236}">
                <a16:creationId xmlns:a16="http://schemas.microsoft.com/office/drawing/2014/main" id="{43FA03A9-033C-4049-B29D-EC72CF65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3524250" cy="2952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-82-378">
            <a:extLst xmlns:a="http://schemas.openxmlformats.org/drawingml/2006/main">
              <a:ext uri="{FF2B5EF4-FFF2-40B4-BE49-F238E27FC236}">
                <a16:creationId xmlns:a16="http://schemas.microsoft.com/office/drawing/2014/main" id="{94B2671A-AF3B-40F4-980D-3616417F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3276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Dynamic   动态工装</a:t>
            </a:r>
          </a:p>
        </p:txBody>
      </p:sp>
      <p:sp>
        <p:nvSpPr>
          <p:cNvPr id="16" name="box-70-412">
            <a:extLst xmlns:a="http://schemas.openxmlformats.org/drawingml/2006/main">
              <a:ext uri="{FF2B5EF4-FFF2-40B4-BE49-F238E27FC236}">
                <a16:creationId xmlns:a16="http://schemas.microsoft.com/office/drawing/2014/main" id="{8B127710-47AE-49B2-9639-A8B8E241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3524250" cy="2952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1D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ext-82-418">
            <a:extLst xmlns:a="http://schemas.openxmlformats.org/drawingml/2006/main">
              <a:ext uri="{FF2B5EF4-FFF2-40B4-BE49-F238E27FC236}">
                <a16:creationId xmlns:a16="http://schemas.microsoft.com/office/drawing/2014/main" id="{9C37D86C-7160-4ACC-AD92-7E2B923A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3276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68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68012"/>
                </a:solidFill>
                <a:latin typeface="Microsoft YaHei"/>
                <a:ea typeface="Microsoft YaHei"/>
                <a:cs typeface="Microsoft YaHei"/>
              </a:rPr>
              <a:t>Aging     老化（待补齐）</a:t>
            </a:r>
          </a:p>
        </p:txBody>
      </p:sp>
      <p:sp>
        <p:nvSpPr>
          <p:cNvPr id="18" name="text-70-474">
            <a:extLst xmlns:a="http://schemas.openxmlformats.org/drawingml/2006/main">
              <a:ext uri="{FF2B5EF4-FFF2-40B4-BE49-F238E27FC236}">
                <a16:creationId xmlns:a16="http://schemas.microsoft.com/office/drawing/2014/main" id="{73F88A47-29FF-48DC-B6E8-E9784F05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rPr>
              <a:t>Machine 内按 Type 0/1/2 组织差异逻辑，公共层只保留一份。</a:t>
            </a:r>
          </a:p>
        </p:txBody>
      </p:sp>
      <p:sp>
        <p:nvSpPr>
          <p:cNvPr id="19" name="box-586-272">
            <a:extLst xmlns:a="http://schemas.openxmlformats.org/drawingml/2006/main">
              <a:ext uri="{FF2B5EF4-FFF2-40B4-BE49-F238E27FC236}">
                <a16:creationId xmlns:a16="http://schemas.microsoft.com/office/drawing/2014/main" id="{0734641F-1BB4-40D7-9AED-7DCC7145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90800"/>
            <a:ext cx="1485900" cy="1352550"/>
          </a:xfrm>
          <a:prstGeom xmlns:a="http://schemas.openxmlformats.org/drawingml/2006/main" prst="roundRect">
            <a:avLst>
              <a:gd name="adj" fmla="val 140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610-296">
            <a:extLst xmlns:a="http://schemas.openxmlformats.org/drawingml/2006/main">
              <a:ext uri="{FF2B5EF4-FFF2-40B4-BE49-F238E27FC236}">
                <a16:creationId xmlns:a16="http://schemas.microsoft.com/office/drawing/2014/main" id="{47426E8C-552A-4389-9773-1645A3F8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1940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CC5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CC5EC"/>
                </a:solidFill>
                <a:latin typeface="Microsoft YaHei"/>
                <a:ea typeface="Microsoft YaHei"/>
                <a:cs typeface="Microsoft YaHei"/>
              </a:rPr>
              <a:t>WPFCli</a:t>
            </a:r>
          </a:p>
        </p:txBody>
      </p:sp>
      <p:sp>
        <p:nvSpPr>
          <p:cNvPr id="21" name="text-610-342">
            <a:extLst xmlns:a="http://schemas.openxmlformats.org/drawingml/2006/main">
              <a:ext uri="{FF2B5EF4-FFF2-40B4-BE49-F238E27FC236}">
                <a16:creationId xmlns:a16="http://schemas.microsoft.com/office/drawing/2014/main" id="{4C372514-70F2-42B5-9E2C-4A2D91C4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102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发现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合并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发布</a:t>
            </a:r>
          </a:p>
        </p:txBody>
      </p:sp>
      <p:sp>
        <p:nvSpPr>
          <p:cNvPr id="22" name="box-828-186">
            <a:extLst xmlns:a="http://schemas.openxmlformats.org/drawingml/2006/main">
              <a:ext uri="{FF2B5EF4-FFF2-40B4-BE49-F238E27FC236}">
                <a16:creationId xmlns:a16="http://schemas.microsoft.com/office/drawing/2014/main" id="{28275C3D-482F-482D-BF50-BE1832AA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71650"/>
            <a:ext cx="3905250" cy="3600450"/>
          </a:xfrm>
          <a:prstGeom xmlns:a="http://schemas.openxmlformats.org/drawingml/2006/main" prst="roundRect">
            <a:avLst>
              <a:gd name="adj" fmla="val 5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1888D4"/>
            </a:solidFill>
            <a:prstDash val="solid"/>
          </a:ln>
        </p:spPr>
      </p:sp>
      <p:sp>
        <p:nvSpPr>
          <p:cNvPr id="23" name="text-858-210">
            <a:extLst xmlns:a="http://schemas.openxmlformats.org/drawingml/2006/main">
              <a:ext uri="{FF2B5EF4-FFF2-40B4-BE49-F238E27FC236}">
                <a16:creationId xmlns:a16="http://schemas.microsoft.com/office/drawing/2014/main" id="{94B39FED-580B-4841-81B7-4D628CCE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bots-testbench-&lt;产品&gt;</a:t>
            </a:r>
          </a:p>
        </p:txBody>
      </p:sp>
      <p:sp>
        <p:nvSpPr>
          <p:cNvPr id="24" name="text-860-286">
            <a:extLst xmlns:a="http://schemas.openxmlformats.org/drawingml/2006/main">
              <a:ext uri="{FF2B5EF4-FFF2-40B4-BE49-F238E27FC236}">
                <a16:creationId xmlns:a16="http://schemas.microsoft.com/office/drawing/2014/main" id="{C2610757-CF4B-4847-A3B4-85E93ECC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ConST221.sln</a:t>
            </a:r>
          </a:p>
        </p:txBody>
      </p:sp>
      <p:sp>
        <p:nvSpPr>
          <p:cNvPr id="25" name="text-860-336">
            <a:extLst xmlns:a="http://schemas.openxmlformats.org/drawingml/2006/main">
              <a:ext uri="{FF2B5EF4-FFF2-40B4-BE49-F238E27FC236}">
                <a16:creationId xmlns:a16="http://schemas.microsoft.com/office/drawing/2014/main" id="{3378BBF2-7B33-4F54-BF71-8CD60C5E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0400"/>
            <a:ext cx="3048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src/01.Core … 09.Updater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产品驱动与测试项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业务 Manifest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配置、版本与审计元数据</a:t>
            </a:r>
          </a:p>
        </p:txBody>
      </p:sp>
      <p:sp>
        <p:nvSpPr>
          <p:cNvPr id="26" name="text-860-510">
            <a:extLst xmlns:a="http://schemas.openxmlformats.org/drawingml/2006/main">
              <a:ext uri="{FF2B5EF4-FFF2-40B4-BE49-F238E27FC236}">
                <a16:creationId xmlns:a16="http://schemas.microsoft.com/office/drawing/2014/main" id="{CFCD37BC-F383-453D-81C9-8FA69F6E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57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90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rPr>
              <a:t>一产品一仓库 · Machine 统一三类业务</a:t>
            </a:r>
          </a:p>
        </p:txBody>
      </p:sp>
    </p:spTree>
    <p:extLst>
      <p:ext uri="{BB962C8B-B14F-4D97-AF65-F5344CB8AC3E}">
        <p14:creationId xmlns:p14="http://schemas.microsoft.com/office/powerpoint/2010/main" val="15891589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box-22-36">
            <a:extLst xmlns:a="http://schemas.openxmlformats.org/drawingml/2006/main">
              <a:ext uri="{FF2B5EF4-FFF2-40B4-BE49-F238E27FC236}">
                <a16:creationId xmlns:a16="http://schemas.microsoft.com/office/drawing/2014/main" id="{264B5DB8-AC24-44EB-80AA-F294475A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42900"/>
            <a:ext cx="47625" cy="4572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8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9A495E5-BAA1-4890-9207-9CE7BE16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模板化脚手架承接拆分，任务迁移控制风险</a:t>
            </a:r>
          </a:p>
        </p:txBody>
      </p:sp>
      <p:sp>
        <p:nvSpPr>
          <p:cNvPr id="3" name="text-1060-42">
            <a:extLst xmlns:a="http://schemas.openxmlformats.org/drawingml/2006/main">
              <a:ext uri="{FF2B5EF4-FFF2-40B4-BE49-F238E27FC236}">
                <a16:creationId xmlns:a16="http://schemas.microsoft.com/office/drawing/2014/main" id="{04DF7921-BEF5-46FD-B869-A03A313E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方案引出</a:t>
            </a:r>
          </a:p>
        </p:txBody>
      </p:sp>
      <p:sp>
        <p:nvSpPr>
          <p:cNvPr id="4" name="text-1184-658">
            <a:extLst xmlns:a="http://schemas.openxmlformats.org/drawingml/2006/main">
              <a:ext uri="{FF2B5EF4-FFF2-40B4-BE49-F238E27FC236}">
                <a16:creationId xmlns:a16="http://schemas.microsoft.com/office/drawing/2014/main" id="{90424A20-8462-4538-A387-23D17FC4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" name="text-42-118">
            <a:extLst xmlns:a="http://schemas.openxmlformats.org/drawingml/2006/main">
              <a:ext uri="{FF2B5EF4-FFF2-40B4-BE49-F238E27FC236}">
                <a16:creationId xmlns:a16="http://schemas.microsoft.com/office/drawing/2014/main" id="{695FF648-AE62-44F1-B371-CC60837B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前面的拆分原则需要一个可重复、可验证、可回滚的生成与迁移工具来落地。</a:t>
            </a:r>
          </a:p>
        </p:txBody>
      </p:sp>
      <p:sp>
        <p:nvSpPr>
          <p:cNvPr id="6" name="box-42-212">
            <a:extLst xmlns:a="http://schemas.openxmlformats.org/drawingml/2006/main">
              <a:ext uri="{FF2B5EF4-FFF2-40B4-BE49-F238E27FC236}">
                <a16:creationId xmlns:a16="http://schemas.microsoft.com/office/drawing/2014/main" id="{D583C283-D422-457C-BE06-47EC5D6F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3333750" cy="2038350"/>
          </a:xfrm>
          <a:prstGeom xmlns:a="http://schemas.openxmlformats.org/drawingml/2006/main" prst="roundRect">
            <a:avLst>
              <a:gd name="adj" fmla="val 935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-42-212">
            <a:extLst xmlns:a="http://schemas.openxmlformats.org/drawingml/2006/main">
              <a:ext uri="{FF2B5EF4-FFF2-40B4-BE49-F238E27FC236}">
                <a16:creationId xmlns:a16="http://schemas.microsoft.com/office/drawing/2014/main" id="{13221DD6-554F-4493-8749-C8E94898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76200" cy="20383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88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70-234">
            <a:extLst xmlns:a="http://schemas.openxmlformats.org/drawingml/2006/main">
              <a:ext uri="{FF2B5EF4-FFF2-40B4-BE49-F238E27FC236}">
                <a16:creationId xmlns:a16="http://schemas.microsoft.com/office/drawing/2014/main" id="{81C81699-CD3F-4DF9-A9F8-C92EF1B8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rPr>
              <a:t>按边界拆</a:t>
            </a:r>
          </a:p>
        </p:txBody>
      </p:sp>
      <p:sp>
        <p:nvSpPr>
          <p:cNvPr id="9" name="text-70-316">
            <a:extLst xmlns:a="http://schemas.openxmlformats.org/drawingml/2006/main">
              <a:ext uri="{FF2B5EF4-FFF2-40B4-BE49-F238E27FC236}">
                <a16:creationId xmlns:a16="http://schemas.microsoft.com/office/drawing/2014/main" id="{FF43871C-822A-42F3-BC7A-57CA0409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Machine 统一三类业务</a:t>
            </a:r>
          </a:p>
        </p:txBody>
      </p:sp>
      <p:sp>
        <p:nvSpPr>
          <p:cNvPr id="10" name="text-70-360">
            <a:extLst xmlns:a="http://schemas.openxmlformats.org/drawingml/2006/main">
              <a:ext uri="{FF2B5EF4-FFF2-40B4-BE49-F238E27FC236}">
                <a16:creationId xmlns:a16="http://schemas.microsoft.com/office/drawing/2014/main" id="{82668740-D9CD-4D59-9620-FBF67013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Type 0/1/2 共用一套 Machine 模板，仅保留业务逻辑差异</a:t>
            </a:r>
          </a:p>
        </p:txBody>
      </p:sp>
      <p:sp>
        <p:nvSpPr>
          <p:cNvPr id="11" name="box-465-212">
            <a:extLst xmlns:a="http://schemas.openxmlformats.org/drawingml/2006/main">
              <a:ext uri="{FF2B5EF4-FFF2-40B4-BE49-F238E27FC236}">
                <a16:creationId xmlns:a16="http://schemas.microsoft.com/office/drawing/2014/main" id="{DD9839FC-6B0E-483C-B9BA-D5A8E38E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19300"/>
            <a:ext cx="3333750" cy="2038350"/>
          </a:xfrm>
          <a:prstGeom xmlns:a="http://schemas.openxmlformats.org/drawingml/2006/main" prst="roundRect">
            <a:avLst>
              <a:gd name="adj" fmla="val 935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-465-212">
            <a:extLst xmlns:a="http://schemas.openxmlformats.org/drawingml/2006/main">
              <a:ext uri="{FF2B5EF4-FFF2-40B4-BE49-F238E27FC236}">
                <a16:creationId xmlns:a16="http://schemas.microsoft.com/office/drawing/2014/main" id="{EA7B1E13-1EB7-4535-BA10-0E33CB27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19300"/>
            <a:ext cx="76200" cy="20383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18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493-234">
            <a:extLst xmlns:a="http://schemas.openxmlformats.org/drawingml/2006/main">
              <a:ext uri="{FF2B5EF4-FFF2-40B4-BE49-F238E27FC236}">
                <a16:creationId xmlns:a16="http://schemas.microsoft.com/office/drawing/2014/main" id="{72D34268-578F-4E0C-9481-2296BF81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288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99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18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1865B"/>
                </a:solidFill>
                <a:latin typeface="Microsoft YaHei"/>
                <a:ea typeface="Microsoft YaHei"/>
                <a:cs typeface="Microsoft YaHei"/>
              </a:rPr>
              <a:t>Common 稳</a:t>
            </a:r>
          </a:p>
        </p:txBody>
      </p:sp>
      <p:sp>
        <p:nvSpPr>
          <p:cNvPr id="14" name="text-493-316">
            <a:extLst xmlns:a="http://schemas.openxmlformats.org/drawingml/2006/main">
              <a:ext uri="{FF2B5EF4-FFF2-40B4-BE49-F238E27FC236}">
                <a16:creationId xmlns:a16="http://schemas.microsoft.com/office/drawing/2014/main" id="{41285A3E-00DF-4701-80B2-193D31CA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0099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公共能力固化</a:t>
            </a:r>
          </a:p>
        </p:txBody>
      </p:sp>
      <p:sp>
        <p:nvSpPr>
          <p:cNvPr id="15" name="text-493-360">
            <a:extLst xmlns:a="http://schemas.openxmlformats.org/drawingml/2006/main">
              <a:ext uri="{FF2B5EF4-FFF2-40B4-BE49-F238E27FC236}">
                <a16:creationId xmlns:a16="http://schemas.microsoft.com/office/drawing/2014/main" id="{87A1EA01-3268-41BA-B349-3AA03A65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4290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执行引擎与基础设施集中治理，业务变更不扩散</a:t>
            </a:r>
          </a:p>
        </p:txBody>
      </p:sp>
      <p:sp>
        <p:nvSpPr>
          <p:cNvPr id="16" name="box-888-212">
            <a:extLst xmlns:a="http://schemas.openxmlformats.org/drawingml/2006/main">
              <a:ext uri="{FF2B5EF4-FFF2-40B4-BE49-F238E27FC236}">
                <a16:creationId xmlns:a16="http://schemas.microsoft.com/office/drawing/2014/main" id="{99907E65-0629-4AEB-8D54-A857D33B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19300"/>
            <a:ext cx="3333750" cy="2038350"/>
          </a:xfrm>
          <a:prstGeom xmlns:a="http://schemas.openxmlformats.org/drawingml/2006/main" prst="roundRect">
            <a:avLst>
              <a:gd name="adj" fmla="val 935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-888-212">
            <a:extLst xmlns:a="http://schemas.openxmlformats.org/drawingml/2006/main">
              <a:ext uri="{FF2B5EF4-FFF2-40B4-BE49-F238E27FC236}">
                <a16:creationId xmlns:a16="http://schemas.microsoft.com/office/drawing/2014/main" id="{A395DAA0-5F53-49BE-B650-30B668AF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19300"/>
            <a:ext cx="76200" cy="20383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680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916-234">
            <a:extLst xmlns:a="http://schemas.openxmlformats.org/drawingml/2006/main">
              <a:ext uri="{FF2B5EF4-FFF2-40B4-BE49-F238E27FC236}">
                <a16:creationId xmlns:a16="http://schemas.microsoft.com/office/drawing/2014/main" id="{04BFA5C6-5E09-4B76-BE99-5554A49E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288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D68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D68012"/>
                </a:solidFill>
                <a:latin typeface="Microsoft YaHei"/>
                <a:ea typeface="Microsoft YaHei"/>
                <a:cs typeface="Microsoft YaHei"/>
              </a:rPr>
              <a:t>CLI 快</a:t>
            </a:r>
          </a:p>
        </p:txBody>
      </p:sp>
      <p:sp>
        <p:nvSpPr>
          <p:cNvPr id="19" name="text-916-316">
            <a:extLst xmlns:a="http://schemas.openxmlformats.org/drawingml/2006/main">
              <a:ext uri="{FF2B5EF4-FFF2-40B4-BE49-F238E27FC236}">
                <a16:creationId xmlns:a16="http://schemas.microsoft.com/office/drawing/2014/main" id="{661D673E-6386-45FD-9EFC-43969A14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99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生成即校验</a:t>
            </a:r>
          </a:p>
        </p:txBody>
      </p:sp>
      <p:sp>
        <p:nvSpPr>
          <p:cNvPr id="20" name="text-916-360">
            <a:extLst xmlns:a="http://schemas.openxmlformats.org/drawingml/2006/main">
              <a:ext uri="{FF2B5EF4-FFF2-40B4-BE49-F238E27FC236}">
                <a16:creationId xmlns:a16="http://schemas.microsoft.com/office/drawing/2014/main" id="{2D292EFA-79A1-4CC9-96F2-CFF974A7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模板发现、版本审计、编译门禁与事务式发布</a:t>
            </a:r>
          </a:p>
        </p:txBody>
      </p:sp>
      <p:sp>
        <p:nvSpPr>
          <p:cNvPr id="21" name="box-42-485">
            <a:extLst xmlns:a="http://schemas.openxmlformats.org/drawingml/2006/main">
              <a:ext uri="{FF2B5EF4-FFF2-40B4-BE49-F238E27FC236}">
                <a16:creationId xmlns:a16="http://schemas.microsoft.com/office/drawing/2014/main" id="{ED54F0B6-ECCF-44F0-8C92-29EB9E25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9625"/>
            <a:ext cx="1139190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72-510">
            <a:extLst xmlns:a="http://schemas.openxmlformats.org/drawingml/2006/main">
              <a:ext uri="{FF2B5EF4-FFF2-40B4-BE49-F238E27FC236}">
                <a16:creationId xmlns:a16="http://schemas.microsoft.com/office/drawing/2014/main" id="{897C1598-3CCA-4A20-8BB7-D97EA4C4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CC5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CC5EC"/>
                </a:solidFill>
                <a:latin typeface="Microsoft YaHei"/>
                <a:ea typeface="Microsoft YaHei"/>
                <a:cs typeface="Microsoft YaHei"/>
              </a:rPr>
              <a:t>方案选择</a:t>
            </a:r>
          </a:p>
        </p:txBody>
      </p:sp>
      <p:sp>
        <p:nvSpPr>
          <p:cNvPr id="23" name="text-250-505">
            <a:extLst xmlns:a="http://schemas.openxmlformats.org/drawingml/2006/main">
              <a:ext uri="{FF2B5EF4-FFF2-40B4-BE49-F238E27FC236}">
                <a16:creationId xmlns:a16="http://schemas.microsoft.com/office/drawing/2014/main" id="{4FEAF504-64B3-4BB0-AB52-20892BD9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10125"/>
            <a:ext cx="891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先批准 Machine 单模板试点：统一组件 / 整机 / 出厂，差异按 Type 保留；Aging 后续补齐。</a:t>
            </a:r>
          </a:p>
        </p:txBody>
      </p:sp>
    </p:spTree>
    <p:extLst>
      <p:ext uri="{BB962C8B-B14F-4D97-AF65-F5344CB8AC3E}">
        <p14:creationId xmlns:p14="http://schemas.microsoft.com/office/powerpoint/2010/main" val="19362727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ox-22-36">
            <a:extLst xmlns:a="http://schemas.openxmlformats.org/drawingml/2006/main">
              <a:ext uri="{FF2B5EF4-FFF2-40B4-BE49-F238E27FC236}">
                <a16:creationId xmlns:a16="http://schemas.microsoft.com/office/drawing/2014/main" id="{C2261A1D-B3BA-4E19-ACE3-018A8983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42900"/>
            <a:ext cx="47625" cy="4572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8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31D56822-CE25-4F37-9CFA-D777992A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 4 模板可生成，Machine 统一三类业务</a:t>
            </a:r>
          </a:p>
        </p:txBody>
      </p:sp>
      <p:sp>
        <p:nvSpPr>
          <p:cNvPr id="3" name="text-1060-42">
            <a:extLst xmlns:a="http://schemas.openxmlformats.org/drawingml/2006/main">
              <a:ext uri="{FF2B5EF4-FFF2-40B4-BE49-F238E27FC236}">
                <a16:creationId xmlns:a16="http://schemas.microsoft.com/office/drawing/2014/main" id="{4DEBE3E3-378F-40AE-8257-D9486DD6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落地状态</a:t>
            </a:r>
          </a:p>
        </p:txBody>
      </p:sp>
      <p:sp>
        <p:nvSpPr>
          <p:cNvPr id="4" name="text-1184-658">
            <a:extLst xmlns:a="http://schemas.openxmlformats.org/drawingml/2006/main">
              <a:ext uri="{FF2B5EF4-FFF2-40B4-BE49-F238E27FC236}">
                <a16:creationId xmlns:a16="http://schemas.microsoft.com/office/drawing/2014/main" id="{9259D72B-583A-4AE9-907F-F12336A9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5" name="text-42-112">
            <a:extLst xmlns:a="http://schemas.openxmlformats.org/drawingml/2006/main">
              <a:ext uri="{FF2B5EF4-FFF2-40B4-BE49-F238E27FC236}">
                <a16:creationId xmlns:a16="http://schemas.microsoft.com/office/drawing/2014/main" id="{E42D2D50-B046-469C-869F-F2202481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现状仍分为 Complete / Machine / Inspect；目标合并为 Machine 的 Type 0/1/2 变体。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00050" y="1752600"/>
          <a:ext xmlns:a="http://schemas.openxmlformats.org/drawingml/2006/main" cx="113919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1000125"/>
                <a:gridCol w="5191125"/>
                <a:gridCol w="3724275"/>
              </a:tblGrid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模板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当前实现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111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Complete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86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组件测试；工装/治具管理；9 个业务工程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迁入 Machine / Type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111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Machine</a:t>
                      </a:r>
                    </a:p>
                  </a:txBody>
                  <a:tcPr marL="91440" marR="91440" marT="45720" marB="45720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86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可用</a:t>
                      </a:r>
                    </a:p>
                  </a:txBody>
                  <a:tcPr marL="91440" marR="91440" marT="45720" marB="45720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整机业务主干；ManualStep、温控过程项；9 个业务工程</a:t>
                      </a:r>
                    </a:p>
                  </a:txBody>
                  <a:tcPr marL="91440" marR="91440" marT="45720" marB="45720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保留为统一模板主干，承接 Type 0/1/2</a:t>
                      </a:r>
                    </a:p>
                  </a:txBody>
                  <a:tcPr marL="91440" marR="91440" marT="45720" marB="45720">
                    <a:solidFill>
                      <a:srgbClr val="F2F3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111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Inspect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86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证书/合格证生成、预览与打印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迁入 Machine / Type 0；保留出厂逻辑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111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Dynamic</a:t>
                      </a:r>
                    </a:p>
                  </a:txBody>
                  <a:tcPr marL="91440" marR="91440" marT="45720" marB="45720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86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可用</a:t>
                      </a:r>
                    </a:p>
                  </a:txBody>
                  <a:tcPr marL="91440" marR="91440" marT="45720" marB="45720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动态工装；支持 DutType 与 References 适配</a:t>
                      </a:r>
                    </a:p>
                  </a:txBody>
                  <a:tcPr marL="91440" marR="91440" marT="45720" marB="45720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持续沉淀自动转换规则</a:t>
                      </a:r>
                    </a:p>
                  </a:txBody>
                  <a:tcPr marL="91440" marR="91440" marT="45720" marB="45720">
                    <a:solidFill>
                      <a:srgbClr val="F2F3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111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Aging</a:t>
                      </a:r>
                    </a:p>
                  </a:txBody>
                  <a:tcPr marL="91440" marR="91440" marT="45720" marB="45720">
                    <a:solidFill>
                      <a:srgbClr val="FFF1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6801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禁用</a:t>
                      </a:r>
                    </a:p>
                  </a:txBody>
                  <a:tcPr marL="91440" marR="91440" marT="45720" marB="45720">
                    <a:solidFill>
                      <a:srgbClr val="FFF1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仅配置与说明，暂无业务工程</a:t>
                      </a:r>
                    </a:p>
                  </a:txBody>
                  <a:tcPr marL="91440" marR="91440" marT="45720" marB="45720">
                    <a:solidFill>
                      <a:srgbClr val="FFF1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先补齐模板再作为低成本迁移试点</a:t>
                      </a:r>
                    </a:p>
                  </a:txBody>
                  <a:tcPr marL="91440" marR="91440" marT="45720" marB="45720">
                    <a:solidFill>
                      <a:srgbClr val="FFF1DB"/>
                    </a:solidFill>
                  </a:tcPr>
                </a:tc>
              </a:tr>
            </a:tbl>
          </a:graphicData>
        </a:graphic>
      </p:graphicFrame>
      <p:sp>
        <p:nvSpPr>
          <p:cNvPr id="7" name="text-42-626">
            <a:extLst xmlns:a="http://schemas.openxmlformats.org/drawingml/2006/main">
              <a:ext uri="{FF2B5EF4-FFF2-40B4-BE49-F238E27FC236}">
                <a16:creationId xmlns:a16="http://schemas.microsoft.com/office/drawing/2014/main" id="{6C5C6589-7D68-42C7-89FA-4047F260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实际目录统计：Common 71 个文件 / 3 个工程；启用业务模板各 119–121 个文件 / 9 个工程。</a:t>
            </a:r>
          </a:p>
        </p:txBody>
      </p:sp>
    </p:spTree>
    <p:extLst>
      <p:ext uri="{BB962C8B-B14F-4D97-AF65-F5344CB8AC3E}">
        <p14:creationId xmlns:p14="http://schemas.microsoft.com/office/powerpoint/2010/main" val="125547745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B2A21B9D-0C0D-4A1A-8C04-80D0CBB9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70FE407-2610-44AC-922F-D5CFB9CD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WPFCli 将项目创建固化为可审计流水线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ABA4018F-A4C6-4099-991E-94A36923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rPr>
              <a:t>05 资产适配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按需注入旧 DLL、UUT、步骤与 Jig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6BF3CC9B-5555-46D9-98DD-D908D132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rPr>
              <a:t>06 令牌与版本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替换、重命名、patch 递增与审计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70410792-3F00-4114-A485-1BD1EC1C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rPr>
              <a:t>07 门禁验证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关键产物、自检、可选 dotnet build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6DF50986-9FE5-4A7F-8AD1-B50229B3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rPr>
              <a:t>08 原子发布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全部成功后才替换正式输出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1795CD46-5D63-4C31-80F5-7419B2C5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rPr>
              <a:t>01 选择入口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交互向导或 --biz/--code 参数模式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24CA6299-DDA6-4AED-B6EE-A8EDF875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rPr>
              <a:t>02 发现模板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目录扫描、schema 与业务名校验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B48B2F99-3BE2-4F07-95CF-539D0BFF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rPr>
              <a:t>03 环境检测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.NET 8 SDK 与目标框架可用性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98149A1E-C113-4E4F-871F-E75FDC49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rPr>
              <a:t>04 暂存合并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Common 先复制，业务模板覆盖</a:t>
            </a:r>
          </a:p>
        </p:txBody>
      </p:sp>
      <p:sp>
        <p:nvSpPr>
          <p:cNvPr id="11" name="box-22-36">
            <a:extLst xmlns:a="http://schemas.openxmlformats.org/drawingml/2006/main">
              <a:ext uri="{FF2B5EF4-FFF2-40B4-BE49-F238E27FC236}">
                <a16:creationId xmlns:a16="http://schemas.microsoft.com/office/drawing/2014/main" id="{26B27A1C-9CF6-4C27-8FDC-D239F570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42900"/>
            <a:ext cx="47625" cy="4572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8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-1080-34">
            <a:extLst xmlns:a="http://schemas.openxmlformats.org/drawingml/2006/main">
              <a:ext uri="{FF2B5EF4-FFF2-40B4-BE49-F238E27FC236}">
                <a16:creationId xmlns:a16="http://schemas.microsoft.com/office/drawing/2014/main" id="{99066433-D2AC-467A-A15B-9F42AAA5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61925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090-42">
            <a:extLst xmlns:a="http://schemas.openxmlformats.org/drawingml/2006/main">
              <a:ext uri="{FF2B5EF4-FFF2-40B4-BE49-F238E27FC236}">
                <a16:creationId xmlns:a16="http://schemas.microsoft.com/office/drawing/2014/main" id="{F88858B4-544B-4ACB-B762-E0DF0D83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WPFCli 实现</a:t>
            </a:r>
          </a:p>
        </p:txBody>
      </p:sp>
    </p:spTree>
    <p:extLst>
      <p:ext uri="{BB962C8B-B14F-4D97-AF65-F5344CB8AC3E}">
        <p14:creationId xmlns:p14="http://schemas.microsoft.com/office/powerpoint/2010/main" val="11141529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box-22-36">
            <a:extLst xmlns:a="http://schemas.openxmlformats.org/drawingml/2006/main">
              <a:ext uri="{FF2B5EF4-FFF2-40B4-BE49-F238E27FC236}">
                <a16:creationId xmlns:a16="http://schemas.microsoft.com/office/drawing/2014/main" id="{47FA51B0-0F51-4F96-9B12-47425F0A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42900"/>
            <a:ext cx="47625" cy="4572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8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4E8362C3-C693-4B6E-9428-6A60D781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全部门禁通过后才替换正式输出</a:t>
            </a:r>
          </a:p>
        </p:txBody>
      </p:sp>
      <p:sp>
        <p:nvSpPr>
          <p:cNvPr id="3" name="text-1060-42">
            <a:extLst xmlns:a="http://schemas.openxmlformats.org/drawingml/2006/main">
              <a:ext uri="{FF2B5EF4-FFF2-40B4-BE49-F238E27FC236}">
                <a16:creationId xmlns:a16="http://schemas.microsoft.com/office/drawing/2014/main" id="{8FBC37D7-67C1-46DA-B8EB-D51D6AAD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WPFCli 实现</a:t>
            </a:r>
          </a:p>
        </p:txBody>
      </p:sp>
      <p:sp>
        <p:nvSpPr>
          <p:cNvPr id="4" name="text-1184-658">
            <a:extLst xmlns:a="http://schemas.openxmlformats.org/drawingml/2006/main">
              <a:ext uri="{FF2B5EF4-FFF2-40B4-BE49-F238E27FC236}">
                <a16:creationId xmlns:a16="http://schemas.microsoft.com/office/drawing/2014/main" id="{C54B8BE2-46CB-4F82-B35B-136F29D1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5" name="text-42-112">
            <a:extLst xmlns:a="http://schemas.openxmlformats.org/drawingml/2006/main">
              <a:ext uri="{FF2B5EF4-FFF2-40B4-BE49-F238E27FC236}">
                <a16:creationId xmlns:a16="http://schemas.microsoft.com/office/drawing/2014/main" id="{77142C4E-11BE-4265-B436-D3A6E158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构建在随机 staging 目录完成；发布阶段采用备份与回滚，避免半成品覆盖可用项目。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CAF96-3916-4F67-8247-5DBDAFF8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1940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8F3E1-E3DC-4C8C-8562-6C92A0D5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1940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58927-F10E-432E-B95E-2EA59CDF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1940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box-42-224">
            <a:extLst xmlns:a="http://schemas.openxmlformats.org/drawingml/2006/main">
              <a:ext uri="{FF2B5EF4-FFF2-40B4-BE49-F238E27FC236}">
                <a16:creationId xmlns:a16="http://schemas.microsoft.com/office/drawing/2014/main" id="{7E702A9A-B472-4E86-AB57-1BDDEDC1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2076450" cy="1524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68-248">
            <a:extLst xmlns:a="http://schemas.openxmlformats.org/drawingml/2006/main">
              <a:ext uri="{FF2B5EF4-FFF2-40B4-BE49-F238E27FC236}">
                <a16:creationId xmlns:a16="http://schemas.microsoft.com/office/drawing/2014/main" id="{3C805029-4033-4409-88B8-E59A72BA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正式目标</a:t>
            </a:r>
          </a:p>
        </p:txBody>
      </p:sp>
      <p:sp>
        <p:nvSpPr>
          <p:cNvPr id="11" name="text-68-300">
            <a:extLst xmlns:a="http://schemas.openxmlformats.org/drawingml/2006/main">
              <a:ext uri="{FF2B5EF4-FFF2-40B4-BE49-F238E27FC236}">
                <a16:creationId xmlns:a16="http://schemas.microsoft.com/office/drawing/2014/main" id="{6CD41F1B-0294-48B1-8281-1FBBA787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58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5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校验根目录 / 文件占用</a:t>
            </a:r>
          </a:p>
          <a:p xmlns:a="http://schemas.openxmlformats.org/drawingml/2006/main">
            <a:pPr algn="l">
              <a:def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.git / 链接目录 / 模板重叠</a:t>
            </a:r>
          </a:p>
        </p:txBody>
      </p:sp>
      <p:sp>
        <p:nvSpPr>
          <p:cNvPr id="12" name="box-330-224">
            <a:extLst xmlns:a="http://schemas.openxmlformats.org/drawingml/2006/main">
              <a:ext uri="{FF2B5EF4-FFF2-40B4-BE49-F238E27FC236}">
                <a16:creationId xmlns:a16="http://schemas.microsoft.com/office/drawing/2014/main" id="{D483475F-283D-4A2A-B149-B6B94AB0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33600"/>
            <a:ext cx="1809750" cy="1524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1888D4"/>
            </a:solidFill>
            <a:prstDash val="solid"/>
          </a:ln>
        </p:spPr>
      </p:sp>
      <p:sp>
        <p:nvSpPr>
          <p:cNvPr id="13" name="text-354-248">
            <a:extLst xmlns:a="http://schemas.openxmlformats.org/drawingml/2006/main">
              <a:ext uri="{FF2B5EF4-FFF2-40B4-BE49-F238E27FC236}">
                <a16:creationId xmlns:a16="http://schemas.microsoft.com/office/drawing/2014/main" id="{5ABA5695-1E91-4AD1-A7C2-FCD69B6E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622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88D4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1888D4"/>
                </a:solidFill>
                <a:latin typeface="Cascadia Mono"/>
                <a:ea typeface="Cascadia Mono"/>
                <a:cs typeface="Cascadia Mono"/>
              </a:rPr>
              <a:t>staging</a:t>
            </a:r>
          </a:p>
        </p:txBody>
      </p:sp>
      <p:sp>
        <p:nvSpPr>
          <p:cNvPr id="14" name="text-350-310">
            <a:extLst xmlns:a="http://schemas.openxmlformats.org/drawingml/2006/main">
              <a:ext uri="{FF2B5EF4-FFF2-40B4-BE49-F238E27FC236}">
                <a16:creationId xmlns:a16="http://schemas.microsoft.com/office/drawing/2014/main" id="{F6A2B47F-F4E4-4E83-ADC2-24903E94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672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5E6672"/>
                </a:solidFill>
                <a:latin typeface="Cascadia Mono"/>
                <a:ea typeface="Cascadia Mono"/>
                <a:cs typeface="Cascadia Mono"/>
              </a:rPr>
              <a:t>.&lt;name&gt;.pipeline-&lt;GUID&gt;</a:t>
            </a:r>
          </a:p>
        </p:txBody>
      </p:sp>
      <p:sp>
        <p:nvSpPr>
          <p:cNvPr id="15" name="box-590-224">
            <a:extLst xmlns:a="http://schemas.openxmlformats.org/drawingml/2006/main">
              <a:ext uri="{FF2B5EF4-FFF2-40B4-BE49-F238E27FC236}">
                <a16:creationId xmlns:a16="http://schemas.microsoft.com/office/drawing/2014/main" id="{2FF71752-6B2B-45F5-9347-80CB4DA7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33600"/>
            <a:ext cx="1809750" cy="1524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E8F4EE"/>
          </a:solidFill>
          <a:ln xmlns:a="http://schemas.openxmlformats.org/drawingml/2006/main" w="9525">
            <a:solidFill>
              <a:srgbClr val="21865B"/>
            </a:solidFill>
            <a:prstDash val="solid"/>
          </a:ln>
        </p:spPr>
      </p:sp>
      <p:sp>
        <p:nvSpPr>
          <p:cNvPr id="16" name="text-616-248">
            <a:extLst xmlns:a="http://schemas.openxmlformats.org/drawingml/2006/main">
              <a:ext uri="{FF2B5EF4-FFF2-40B4-BE49-F238E27FC236}">
                <a16:creationId xmlns:a16="http://schemas.microsoft.com/office/drawing/2014/main" id="{52C2ECFA-F65D-4EC3-BE66-646B6CCF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62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18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865B"/>
                </a:solidFill>
                <a:latin typeface="Microsoft YaHei"/>
                <a:ea typeface="Microsoft YaHei"/>
                <a:cs typeface="Microsoft YaHei"/>
              </a:rPr>
              <a:t>全部门禁</a:t>
            </a:r>
          </a:p>
        </p:txBody>
      </p:sp>
      <p:sp>
        <p:nvSpPr>
          <p:cNvPr id="17" name="text-610-310">
            <a:extLst xmlns:a="http://schemas.openxmlformats.org/drawingml/2006/main">
              <a:ext uri="{FF2B5EF4-FFF2-40B4-BE49-F238E27FC236}">
                <a16:creationId xmlns:a16="http://schemas.microsoft.com/office/drawing/2014/main" id="{71C85A27-8EAA-42F1-8AEA-01109512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527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02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自检 · 版本 · 脚本</a:t>
            </a:r>
          </a:p>
          <a:p xmlns:a="http://schemas.openxmlformats.org/drawingml/2006/main">
            <a:pPr algn="ctr">
              <a:def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编译（非 dry-run）</a:t>
            </a:r>
          </a:p>
        </p:txBody>
      </p:sp>
      <p:sp>
        <p:nvSpPr>
          <p:cNvPr id="18" name="box-850-224">
            <a:extLst xmlns:a="http://schemas.openxmlformats.org/drawingml/2006/main">
              <a:ext uri="{FF2B5EF4-FFF2-40B4-BE49-F238E27FC236}">
                <a16:creationId xmlns:a16="http://schemas.microsoft.com/office/drawing/2014/main" id="{D7A7E893-AD5A-40DD-8AB9-D8C9A178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695700" cy="1524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880-248">
            <a:extLst xmlns:a="http://schemas.openxmlformats.org/drawingml/2006/main">
              <a:ext uri="{FF2B5EF4-FFF2-40B4-BE49-F238E27FC236}">
                <a16:creationId xmlns:a16="http://schemas.microsoft.com/office/drawing/2014/main" id="{3570C4E6-E1BC-48EF-8C6A-1766AD1D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CC5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CC5EC"/>
                </a:solidFill>
                <a:latin typeface="Microsoft YaHei"/>
                <a:ea typeface="Microsoft YaHei"/>
                <a:cs typeface="Microsoft YaHei"/>
              </a:rPr>
              <a:t>原子发布</a:t>
            </a:r>
          </a:p>
        </p:txBody>
      </p:sp>
      <p:sp>
        <p:nvSpPr>
          <p:cNvPr id="20" name="text-880-300">
            <a:extLst xmlns:a="http://schemas.openxmlformats.org/drawingml/2006/main">
              <a:ext uri="{FF2B5EF4-FFF2-40B4-BE49-F238E27FC236}">
                <a16:creationId xmlns:a16="http://schemas.microsoft.com/office/drawing/2014/main" id="{CA89F44A-1E44-40F2-A519-3248EC6E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旧输出先移入 backup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新输出移动成功后清理 backup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失败则恢复旧输出</a:t>
            </a:r>
          </a:p>
        </p:txBody>
      </p:sp>
      <p:sp>
        <p:nvSpPr>
          <p:cNvPr id="21" name="box-42-438">
            <a:extLst xmlns:a="http://schemas.openxmlformats.org/drawingml/2006/main">
              <a:ext uri="{FF2B5EF4-FFF2-40B4-BE49-F238E27FC236}">
                <a16:creationId xmlns:a16="http://schemas.microsoft.com/office/drawing/2014/main" id="{A72C9AD5-BAA7-46D1-83EC-0104D200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3543300" cy="1314450"/>
          </a:xfrm>
          <a:prstGeom xmlns:a="http://schemas.openxmlformats.org/drawingml/2006/main" prst="roundRect">
            <a:avLst>
              <a:gd name="adj" fmla="val 1449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68-462">
            <a:extLst xmlns:a="http://schemas.openxmlformats.org/drawingml/2006/main">
              <a:ext uri="{FF2B5EF4-FFF2-40B4-BE49-F238E27FC236}">
                <a16:creationId xmlns:a16="http://schemas.microsoft.com/office/drawing/2014/main" id="{0C908DC7-91C1-464D-A0A9-429BCB87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88D4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1888D4"/>
                </a:solidFill>
                <a:latin typeface="Cascadia Mono"/>
                <a:ea typeface="Cascadia Mono"/>
                <a:cs typeface="Cascadia Mono"/>
              </a:rPr>
              <a:t>--dry-run</a:t>
            </a:r>
          </a:p>
        </p:txBody>
      </p:sp>
      <p:sp>
        <p:nvSpPr>
          <p:cNvPr id="23" name="text-68-510">
            <a:extLst xmlns:a="http://schemas.openxmlformats.org/drawingml/2006/main">
              <a:ext uri="{FF2B5EF4-FFF2-40B4-BE49-F238E27FC236}">
                <a16:creationId xmlns:a16="http://schemas.microsoft.com/office/drawing/2014/main" id="{75188970-CF9E-489D-AAF8-120E00E1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完成生成与自检，但不发布正式输出，也不修改模板版本。</a:t>
            </a:r>
          </a:p>
        </p:txBody>
      </p:sp>
      <p:sp>
        <p:nvSpPr>
          <p:cNvPr id="24" name="box-454-438">
            <a:extLst xmlns:a="http://schemas.openxmlformats.org/drawingml/2006/main">
              <a:ext uri="{FF2B5EF4-FFF2-40B4-BE49-F238E27FC236}">
                <a16:creationId xmlns:a16="http://schemas.microsoft.com/office/drawing/2014/main" id="{9AE17A68-B82B-43B7-AFAC-F2834A5D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71950"/>
            <a:ext cx="3543300" cy="1314450"/>
          </a:xfrm>
          <a:prstGeom xmlns:a="http://schemas.openxmlformats.org/drawingml/2006/main" prst="roundRect">
            <a:avLst>
              <a:gd name="adj" fmla="val 1449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480-462">
            <a:extLst xmlns:a="http://schemas.openxmlformats.org/drawingml/2006/main">
              <a:ext uri="{FF2B5EF4-FFF2-40B4-BE49-F238E27FC236}">
                <a16:creationId xmlns:a16="http://schemas.microsoft.com/office/drawing/2014/main" id="{6DEDB618-43B1-491C-85EA-78EE55C7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68012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D68012"/>
                </a:solidFill>
                <a:latin typeface="Cascadia Mono"/>
                <a:ea typeface="Cascadia Mono"/>
                <a:cs typeface="Cascadia Mono"/>
              </a:rPr>
              <a:t>--force</a:t>
            </a:r>
          </a:p>
        </p:txBody>
      </p:sp>
      <p:sp>
        <p:nvSpPr>
          <p:cNvPr id="26" name="text-480-510">
            <a:extLst xmlns:a="http://schemas.openxmlformats.org/drawingml/2006/main">
              <a:ext uri="{FF2B5EF4-FFF2-40B4-BE49-F238E27FC236}">
                <a16:creationId xmlns:a16="http://schemas.microsoft.com/office/drawing/2014/main" id="{C9774F4B-501C-46FF-88D5-DCD1394B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577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仅允许在完整构建成功后替换已有输出；默认拒绝覆盖。</a:t>
            </a:r>
          </a:p>
        </p:txBody>
      </p:sp>
      <p:sp>
        <p:nvSpPr>
          <p:cNvPr id="27" name="box-866-438">
            <a:extLst xmlns:a="http://schemas.openxmlformats.org/drawingml/2006/main">
              <a:ext uri="{FF2B5EF4-FFF2-40B4-BE49-F238E27FC236}">
                <a16:creationId xmlns:a16="http://schemas.microsoft.com/office/drawing/2014/main" id="{55EABBD9-56A8-4203-AECB-810C732F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3543300" cy="1314450"/>
          </a:xfrm>
          <a:prstGeom xmlns:a="http://schemas.openxmlformats.org/drawingml/2006/main" prst="roundRect">
            <a:avLst>
              <a:gd name="adj" fmla="val 1449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892-462">
            <a:extLst xmlns:a="http://schemas.openxmlformats.org/drawingml/2006/main">
              <a:ext uri="{FF2B5EF4-FFF2-40B4-BE49-F238E27FC236}">
                <a16:creationId xmlns:a16="http://schemas.microsoft.com/office/drawing/2014/main" id="{556E0A38-70E3-4A2F-A419-48F298A8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005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642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64242"/>
                </a:solidFill>
                <a:latin typeface="Microsoft YaHei"/>
                <a:ea typeface="Microsoft YaHei"/>
                <a:cs typeface="Microsoft YaHei"/>
              </a:rPr>
              <a:t>失败路径</a:t>
            </a:r>
          </a:p>
        </p:txBody>
      </p:sp>
      <p:sp>
        <p:nvSpPr>
          <p:cNvPr id="29" name="text-892-510">
            <a:extLst xmlns:a="http://schemas.openxmlformats.org/drawingml/2006/main">
              <a:ext uri="{FF2B5EF4-FFF2-40B4-BE49-F238E27FC236}">
                <a16:creationId xmlns:a16="http://schemas.microsoft.com/office/drawing/2014/main" id="{CB9724EC-E6B0-4AE4-8191-E98F298D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577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打印错误、清理 staging；现有正式输出保持原样。</a:t>
            </a:r>
          </a:p>
        </p:txBody>
      </p:sp>
    </p:spTree>
    <p:extLst>
      <p:ext uri="{BB962C8B-B14F-4D97-AF65-F5344CB8AC3E}">
        <p14:creationId xmlns:p14="http://schemas.microsoft.com/office/powerpoint/2010/main" val="13622611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ox-22-36">
            <a:extLst xmlns:a="http://schemas.openxmlformats.org/drawingml/2006/main">
              <a:ext uri="{FF2B5EF4-FFF2-40B4-BE49-F238E27FC236}">
                <a16:creationId xmlns:a16="http://schemas.microsoft.com/office/drawing/2014/main" id="{C79E7ED0-EC46-4DDE-AAEC-F1FD627D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42900"/>
            <a:ext cx="47625" cy="4572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8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3B4630B8-1018-4176-A513-744A6E40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公共骨架先复制，业务同路径覆盖</a:t>
            </a:r>
          </a:p>
        </p:txBody>
      </p:sp>
      <p:sp>
        <p:nvSpPr>
          <p:cNvPr id="3" name="text-1060-42">
            <a:extLst xmlns:a="http://schemas.openxmlformats.org/drawingml/2006/main">
              <a:ext uri="{FF2B5EF4-FFF2-40B4-BE49-F238E27FC236}">
                <a16:creationId xmlns:a16="http://schemas.microsoft.com/office/drawing/2014/main" id="{D018933D-2F2B-440F-9699-E59F5F70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WPFCli 实现</a:t>
            </a:r>
          </a:p>
        </p:txBody>
      </p:sp>
      <p:sp>
        <p:nvSpPr>
          <p:cNvPr id="4" name="text-1184-658">
            <a:extLst xmlns:a="http://schemas.openxmlformats.org/drawingml/2006/main">
              <a:ext uri="{FF2B5EF4-FFF2-40B4-BE49-F238E27FC236}">
                <a16:creationId xmlns:a16="http://schemas.microsoft.com/office/drawing/2014/main" id="{3CB6E1D7-BF67-46FD-8302-07AF2767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71140-5D35-4F07-9CD8-0CAAB196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24200"/>
            <a:ext cx="9144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88D4"/>
          </a:solidFill>
          <a:ln xmlns:a="http://schemas.openxmlformats.org/drawingml/2006/main" w="0">
            <a:solidFill>
              <a:srgbClr val="1888D4"/>
            </a:solidFill>
            <a:prstDash val="solid"/>
          </a:ln>
        </p:spPr>
      </p:sp>
      <p:sp>
        <p:nvSpPr>
          <p:cNvPr id="6" name="box-42-168">
            <a:extLst xmlns:a="http://schemas.openxmlformats.org/drawingml/2006/main">
              <a:ext uri="{FF2B5EF4-FFF2-40B4-BE49-F238E27FC236}">
                <a16:creationId xmlns:a16="http://schemas.microsoft.com/office/drawing/2014/main" id="{EFF7A40E-C0D5-43A5-AE6D-2B72DD43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4933950" cy="3867150"/>
          </a:xfrm>
          <a:prstGeom xmlns:a="http://schemas.openxmlformats.org/drawingml/2006/main" prst="roundRect">
            <a:avLst>
              <a:gd name="adj" fmla="val 49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-70-194">
            <a:extLst xmlns:a="http://schemas.openxmlformats.org/drawingml/2006/main">
              <a:ext uri="{FF2B5EF4-FFF2-40B4-BE49-F238E27FC236}">
                <a16:creationId xmlns:a16="http://schemas.microsoft.com/office/drawing/2014/main" id="{E6A9D810-DDCE-4789-905B-370DE321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输入：两棵模板树</a:t>
            </a:r>
          </a:p>
        </p:txBody>
      </p:sp>
      <p:sp>
        <p:nvSpPr>
          <p:cNvPr id="8" name="text-70-260">
            <a:extLst xmlns:a="http://schemas.openxmlformats.org/drawingml/2006/main">
              <a:ext uri="{FF2B5EF4-FFF2-40B4-BE49-F238E27FC236}">
                <a16:creationId xmlns:a16="http://schemas.microsoft.com/office/drawing/2014/main" id="{914789B4-0595-4AE1-8A6A-5A614BBF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88D4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1888D4"/>
                </a:solidFill>
                <a:latin typeface="Cascadia Mono"/>
                <a:ea typeface="Cascadia Mono"/>
                <a:cs typeface="Cascadia Mono"/>
              </a:rPr>
              <a:t>Template/Common</a:t>
            </a:r>
          </a:p>
        </p:txBody>
      </p:sp>
      <p:sp>
        <p:nvSpPr>
          <p:cNvPr id="9" name="text-70-302">
            <a:extLst xmlns:a="http://schemas.openxmlformats.org/drawingml/2006/main">
              <a:ext uri="{FF2B5EF4-FFF2-40B4-BE49-F238E27FC236}">
                <a16:creationId xmlns:a16="http://schemas.microsoft.com/office/drawing/2014/main" id="{7E3A20A8-12A1-4F41-9393-3EE2F8A9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  src/01.Core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  src/02.Infrastructure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  Directory.Build.props</a:t>
            </a:r>
          </a:p>
        </p:txBody>
      </p:sp>
      <p:sp>
        <p:nvSpPr>
          <p:cNvPr id="10" name="text-70-420">
            <a:extLst xmlns:a="http://schemas.openxmlformats.org/drawingml/2006/main">
              <a:ext uri="{FF2B5EF4-FFF2-40B4-BE49-F238E27FC236}">
                <a16:creationId xmlns:a16="http://schemas.microsoft.com/office/drawing/2014/main" id="{2242FD21-83F4-4EE9-BB20-37A760AF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865B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21865B"/>
                </a:solidFill>
                <a:latin typeface="Cascadia Mono"/>
                <a:ea typeface="Cascadia Mono"/>
                <a:cs typeface="Cascadia Mono"/>
              </a:rPr>
              <a:t>Template/Machine（统一模板）</a:t>
            </a:r>
          </a:p>
        </p:txBody>
      </p:sp>
      <p:sp>
        <p:nvSpPr>
          <p:cNvPr id="11" name="text-70-462">
            <a:extLst xmlns:a="http://schemas.openxmlformats.org/drawingml/2006/main">
              <a:ext uri="{FF2B5EF4-FFF2-40B4-BE49-F238E27FC236}">
                <a16:creationId xmlns:a16="http://schemas.microsoft.com/office/drawing/2014/main" id="{07CBB3A3-59EE-4764-84E7-90B34E71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  src/03.Devices … 09.Updater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  TESTRIG.sln</a:t>
            </a:r>
          </a:p>
        </p:txBody>
      </p:sp>
      <p:sp>
        <p:nvSpPr>
          <p:cNvPr id="12" name="box-656-168">
            <a:extLst xmlns:a="http://schemas.openxmlformats.org/drawingml/2006/main">
              <a:ext uri="{FF2B5EF4-FFF2-40B4-BE49-F238E27FC236}">
                <a16:creationId xmlns:a16="http://schemas.microsoft.com/office/drawing/2014/main" id="{2AC42FBE-ED8D-4CC4-A843-54FABC44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00200"/>
            <a:ext cx="5543550" cy="3867150"/>
          </a:xfrm>
          <a:prstGeom xmlns:a="http://schemas.openxmlformats.org/drawingml/2006/main" prst="roundRect">
            <a:avLst>
              <a:gd name="adj" fmla="val 49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1888D4"/>
            </a:solidFill>
            <a:prstDash val="solid"/>
          </a:ln>
        </p:spPr>
      </p:sp>
      <p:sp>
        <p:nvSpPr>
          <p:cNvPr id="13" name="text-686-194">
            <a:extLst xmlns:a="http://schemas.openxmlformats.org/drawingml/2006/main">
              <a:ext uri="{FF2B5EF4-FFF2-40B4-BE49-F238E27FC236}">
                <a16:creationId xmlns:a16="http://schemas.microsoft.com/office/drawing/2014/main" id="{1B673B0D-6116-43D9-812A-D1B6777B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478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输出：一棵可编译产品树</a:t>
            </a:r>
          </a:p>
        </p:txBody>
      </p:sp>
      <p:sp>
        <p:nvSpPr>
          <p:cNvPr id="14" name="text-686-260">
            <a:extLst xmlns:a="http://schemas.openxmlformats.org/drawingml/2006/main">
              <a:ext uri="{FF2B5EF4-FFF2-40B4-BE49-F238E27FC236}">
                <a16:creationId xmlns:a16="http://schemas.microsoft.com/office/drawing/2014/main" id="{0DBC5876-8802-4FA0-8175-21E3D733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76500"/>
            <a:ext cx="4762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01  排除规则取并集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02  template.config.json 不进入产物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03  业务同路径文件覆盖 Common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04  deleteFromOutput 执行业务删减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05  重写 ..\Common 引用为扁平路径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06  替换显式令牌并按边界重命名</a:t>
            </a:r>
          </a:p>
        </p:txBody>
      </p:sp>
      <p:sp>
        <p:nvSpPr>
          <p:cNvPr id="15" name="box-686-492">
            <a:extLst xmlns:a="http://schemas.openxmlformats.org/drawingml/2006/main">
              <a:ext uri="{FF2B5EF4-FFF2-40B4-BE49-F238E27FC236}">
                <a16:creationId xmlns:a16="http://schemas.microsoft.com/office/drawing/2014/main" id="{2E4C0587-9E1D-49BE-A3CC-869FC5AB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86300"/>
            <a:ext cx="4762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704-505">
            <a:extLst xmlns:a="http://schemas.openxmlformats.org/drawingml/2006/main">
              <a:ext uri="{FF2B5EF4-FFF2-40B4-BE49-F238E27FC236}">
                <a16:creationId xmlns:a16="http://schemas.microsoft.com/office/drawing/2014/main" id="{F8E18BAC-7A80-4789-AAB2-3D806021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10125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01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{{ProjectCode}} / {{Version}} / TESTRIG → 产品实际值</a:t>
            </a:r>
          </a:p>
        </p:txBody>
      </p:sp>
      <p:sp>
        <p:nvSpPr>
          <p:cNvPr id="17" name="text-42-608">
            <a:extLst xmlns:a="http://schemas.openxmlformats.org/drawingml/2006/main">
              <a:ext uri="{FF2B5EF4-FFF2-40B4-BE49-F238E27FC236}">
                <a16:creationId xmlns:a16="http://schemas.microsoft.com/office/drawing/2014/main" id="{6877CB81-1C19-4784-A2AA-DDFD1A98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未知二进制原样复制；仅对白名单 UTF-8 文本执行替换。</a:t>
            </a:r>
          </a:p>
        </p:txBody>
      </p:sp>
    </p:spTree>
    <p:extLst>
      <p:ext uri="{BB962C8B-B14F-4D97-AF65-F5344CB8AC3E}">
        <p14:creationId xmlns:p14="http://schemas.microsoft.com/office/powerpoint/2010/main" val="12606634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box-22-36">
            <a:extLst xmlns:a="http://schemas.openxmlformats.org/drawingml/2006/main">
              <a:ext uri="{FF2B5EF4-FFF2-40B4-BE49-F238E27FC236}">
                <a16:creationId xmlns:a16="http://schemas.microsoft.com/office/drawing/2014/main" id="{1327FFB2-544A-46AA-ACC6-B13E2FE4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42900"/>
            <a:ext cx="47625" cy="4572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8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9780E46D-3D32-4E75-BF04-9E79BDA7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ReferencesAdapter：先转存量资产</a:t>
            </a:r>
          </a:p>
        </p:txBody>
      </p:sp>
      <p:sp>
        <p:nvSpPr>
          <p:cNvPr id="3" name="text-1060-42">
            <a:extLst xmlns:a="http://schemas.openxmlformats.org/drawingml/2006/main">
              <a:ext uri="{FF2B5EF4-FFF2-40B4-BE49-F238E27FC236}">
                <a16:creationId xmlns:a16="http://schemas.microsoft.com/office/drawing/2014/main" id="{94B264F4-5262-46EC-BC74-C28021F2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迁移加速</a:t>
            </a:r>
          </a:p>
        </p:txBody>
      </p:sp>
      <p:sp>
        <p:nvSpPr>
          <p:cNvPr id="4" name="text-1184-658">
            <a:extLst xmlns:a="http://schemas.openxmlformats.org/drawingml/2006/main">
              <a:ext uri="{FF2B5EF4-FFF2-40B4-BE49-F238E27FC236}">
                <a16:creationId xmlns:a16="http://schemas.microsoft.com/office/drawing/2014/main" id="{6BB27E5B-9A74-4A13-B016-39AFA259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text-42-112">
            <a:extLst xmlns:a="http://schemas.openxmlformats.org/drawingml/2006/main">
              <a:ext uri="{FF2B5EF4-FFF2-40B4-BE49-F238E27FC236}">
                <a16:creationId xmlns:a16="http://schemas.microsoft.com/office/drawing/2014/main" id="{C1DD50F3-4B29-41F2-8E65-DFBA8C11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当前适配链重点服务 Dynamic / Machine；不可自动映射的语句不会静默丢弃，而是进入报告等待人工核对。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514E3-0CB1-4B30-914B-6C111AE4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76600"/>
            <a:ext cx="819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21568-9DE8-4AA5-8DAD-B1BBB9B3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76600"/>
            <a:ext cx="819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box-42-194">
            <a:extLst xmlns:a="http://schemas.openxmlformats.org/drawingml/2006/main">
              <a:ext uri="{FF2B5EF4-FFF2-40B4-BE49-F238E27FC236}">
                <a16:creationId xmlns:a16="http://schemas.microsoft.com/office/drawing/2014/main" id="{208224C4-87FA-4B32-8276-347B8BA5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3086100" cy="3333750"/>
          </a:xfrm>
          <a:prstGeom xmlns:a="http://schemas.openxmlformats.org/drawingml/2006/main" prst="roundRect">
            <a:avLst>
              <a:gd name="adj" fmla="val 617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8-220">
            <a:extLst xmlns:a="http://schemas.openxmlformats.org/drawingml/2006/main">
              <a:ext uri="{FF2B5EF4-FFF2-40B4-BE49-F238E27FC236}">
                <a16:creationId xmlns:a16="http://schemas.microsoft.com/office/drawing/2014/main" id="{F214C92B-4626-404B-9509-E1CBAA6C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旧体系 References</a:t>
            </a:r>
          </a:p>
        </p:txBody>
      </p:sp>
      <p:sp>
        <p:nvSpPr>
          <p:cNvPr id="10" name="box-68-286">
            <a:extLst xmlns:a="http://schemas.openxmlformats.org/drawingml/2006/main">
              <a:ext uri="{FF2B5EF4-FFF2-40B4-BE49-F238E27FC236}">
                <a16:creationId xmlns:a16="http://schemas.microsoft.com/office/drawing/2014/main" id="{B8BFC6B1-3F60-46A8-8D8E-9335FE2F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2381250" cy="304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text-82-292">
            <a:extLst xmlns:a="http://schemas.openxmlformats.org/drawingml/2006/main">
              <a:ext uri="{FF2B5EF4-FFF2-40B4-BE49-F238E27FC236}">
                <a16:creationId xmlns:a16="http://schemas.microsoft.com/office/drawing/2014/main" id="{57FD933C-A68B-43C3-8783-032E560D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Xmas11/*.dll</a:t>
            </a:r>
          </a:p>
        </p:txBody>
      </p:sp>
      <p:sp>
        <p:nvSpPr>
          <p:cNvPr id="12" name="box-68-331">
            <a:extLst xmlns:a="http://schemas.openxmlformats.org/drawingml/2006/main">
              <a:ext uri="{FF2B5EF4-FFF2-40B4-BE49-F238E27FC236}">
                <a16:creationId xmlns:a16="http://schemas.microsoft.com/office/drawing/2014/main" id="{23252ABE-C760-4893-9B0F-4846CBA5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52775"/>
            <a:ext cx="2381250" cy="304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-82-337">
            <a:extLst xmlns:a="http://schemas.openxmlformats.org/drawingml/2006/main">
              <a:ext uri="{FF2B5EF4-FFF2-40B4-BE49-F238E27FC236}">
                <a16:creationId xmlns:a16="http://schemas.microsoft.com/office/drawing/2014/main" id="{A0D467B4-E1EC-408D-A5B0-043EE31B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Uut/*.cs</a:t>
            </a:r>
          </a:p>
        </p:txBody>
      </p:sp>
      <p:sp>
        <p:nvSpPr>
          <p:cNvPr id="14" name="box-68-376">
            <a:extLst xmlns:a="http://schemas.openxmlformats.org/drawingml/2006/main">
              <a:ext uri="{FF2B5EF4-FFF2-40B4-BE49-F238E27FC236}">
                <a16:creationId xmlns:a16="http://schemas.microsoft.com/office/drawing/2014/main" id="{2FBA8A2A-888A-4534-A51F-E7D809E5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2381250" cy="304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-82-382">
            <a:extLst xmlns:a="http://schemas.openxmlformats.org/drawingml/2006/main">
              <a:ext uri="{FF2B5EF4-FFF2-40B4-BE49-F238E27FC236}">
                <a16:creationId xmlns:a16="http://schemas.microsoft.com/office/drawing/2014/main" id="{82620063-69FE-44BC-B452-5B36D5D8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TestSteps/*.cs</a:t>
            </a:r>
          </a:p>
        </p:txBody>
      </p:sp>
      <p:sp>
        <p:nvSpPr>
          <p:cNvPr id="16" name="box-68-421">
            <a:extLst xmlns:a="http://schemas.openxmlformats.org/drawingml/2006/main">
              <a:ext uri="{FF2B5EF4-FFF2-40B4-BE49-F238E27FC236}">
                <a16:creationId xmlns:a16="http://schemas.microsoft.com/office/drawing/2014/main" id="{0C13AD10-8C50-4C42-987B-34666FC9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2381250" cy="304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ext-82-427">
            <a:extLst xmlns:a="http://schemas.openxmlformats.org/drawingml/2006/main">
              <a:ext uri="{FF2B5EF4-FFF2-40B4-BE49-F238E27FC236}">
                <a16:creationId xmlns:a16="http://schemas.microsoft.com/office/drawing/2014/main" id="{C5DCA594-BFA1-4C9F-9EFF-B336B4BE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Jigs/*.json</a:t>
            </a:r>
          </a:p>
        </p:txBody>
      </p:sp>
      <p:sp>
        <p:nvSpPr>
          <p:cNvPr id="18" name="box-68-466">
            <a:extLst xmlns:a="http://schemas.openxmlformats.org/drawingml/2006/main">
              <a:ext uri="{FF2B5EF4-FFF2-40B4-BE49-F238E27FC236}">
                <a16:creationId xmlns:a16="http://schemas.microsoft.com/office/drawing/2014/main" id="{E5FE6F6D-350E-4489-87C6-55524827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2381250" cy="304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text-82-472">
            <a:extLst xmlns:a="http://schemas.openxmlformats.org/drawingml/2006/main">
              <a:ext uri="{FF2B5EF4-FFF2-40B4-BE49-F238E27FC236}">
                <a16:creationId xmlns:a16="http://schemas.microsoft.com/office/drawing/2014/main" id="{1F2E1360-E0C9-4411-9D94-3632F623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StandardBox/*.cs</a:t>
            </a:r>
          </a:p>
        </p:txBody>
      </p:sp>
      <p:sp>
        <p:nvSpPr>
          <p:cNvPr id="20" name="box-452-232">
            <a:extLst xmlns:a="http://schemas.openxmlformats.org/drawingml/2006/main">
              <a:ext uri="{FF2B5EF4-FFF2-40B4-BE49-F238E27FC236}">
                <a16:creationId xmlns:a16="http://schemas.microsoft.com/office/drawing/2014/main" id="{E2BA67E8-185C-44C6-85C9-DE379D07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3429000" cy="2609850"/>
          </a:xfrm>
          <a:prstGeom xmlns:a="http://schemas.openxmlformats.org/drawingml/2006/main" prst="roundRect">
            <a:avLst>
              <a:gd name="adj" fmla="val 73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480-258">
            <a:extLst xmlns:a="http://schemas.openxmlformats.org/drawingml/2006/main">
              <a:ext uri="{FF2B5EF4-FFF2-40B4-BE49-F238E27FC236}">
                <a16:creationId xmlns:a16="http://schemas.microsoft.com/office/drawing/2014/main" id="{D52A25E7-56BC-4F03-B466-733AFD3F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CC5EC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1">
                <a:solidFill>
                  <a:srgbClr val="5CC5EC"/>
                </a:solidFill>
                <a:latin typeface="Cascadia Mono"/>
                <a:ea typeface="Cascadia Mono"/>
                <a:cs typeface="Cascadia Mono"/>
              </a:rPr>
              <a:t>ReferencesAdapter</a:t>
            </a:r>
          </a:p>
        </p:txBody>
      </p:sp>
      <p:sp>
        <p:nvSpPr>
          <p:cNvPr id="22" name="text-502-324">
            <a:extLst xmlns:a="http://schemas.openxmlformats.org/drawingml/2006/main">
              <a:ext uri="{FF2B5EF4-FFF2-40B4-BE49-F238E27FC236}">
                <a16:creationId xmlns:a16="http://schemas.microsoft.com/office/drawing/2014/main" id="{12EE23B9-0866-46D8-8B51-EDC32194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86100"/>
            <a:ext cx="247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解析旧结构</a:t>
            </a:r>
          </a:p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生成接口 / 驱动</a:t>
            </a:r>
          </a:p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 IStepHandler</a:t>
            </a:r>
          </a:p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转换 Manifest</a:t>
            </a:r>
          </a:p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联动 csproj 引用</a:t>
            </a:r>
          </a:p>
        </p:txBody>
      </p:sp>
      <p:sp>
        <p:nvSpPr>
          <p:cNvPr id="23" name="box-898-194">
            <a:extLst xmlns:a="http://schemas.openxmlformats.org/drawingml/2006/main">
              <a:ext uri="{FF2B5EF4-FFF2-40B4-BE49-F238E27FC236}">
                <a16:creationId xmlns:a16="http://schemas.microsoft.com/office/drawing/2014/main" id="{D40AEBFA-DDF6-4DE4-8CEA-79F50985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47850"/>
            <a:ext cx="3238500" cy="3333750"/>
          </a:xfrm>
          <a:prstGeom xmlns:a="http://schemas.openxmlformats.org/drawingml/2006/main" prst="roundRect">
            <a:avLst>
              <a:gd name="adj" fmla="val 588"/>
            </a:avLst>
          </a:prstGeom>
          <a:solidFill xmlns:a="http://schemas.openxmlformats.org/drawingml/2006/main">
            <a:srgbClr val="E8F4EE"/>
          </a:solidFill>
          <a:ln xmlns:a="http://schemas.openxmlformats.org/drawingml/2006/main" w="9525">
            <a:solidFill>
              <a:srgbClr val="21865B"/>
            </a:solidFill>
            <a:prstDash val="solid"/>
          </a:ln>
        </p:spPr>
      </p:sp>
      <p:sp>
        <p:nvSpPr>
          <p:cNvPr id="24" name="text-926-220">
            <a:extLst xmlns:a="http://schemas.openxmlformats.org/drawingml/2006/main">
              <a:ext uri="{FF2B5EF4-FFF2-40B4-BE49-F238E27FC236}">
                <a16:creationId xmlns:a16="http://schemas.microsoft.com/office/drawing/2014/main" id="{9FE97833-DA70-46EB-BF57-8FD9B641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955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8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865B"/>
                </a:solidFill>
                <a:latin typeface="Microsoft YaHei"/>
                <a:ea typeface="Microsoft YaHei"/>
                <a:cs typeface="Microsoft YaHei"/>
              </a:rPr>
              <a:t>新体系产物</a:t>
            </a:r>
          </a:p>
        </p:txBody>
      </p:sp>
      <p:sp>
        <p:nvSpPr>
          <p:cNvPr id="25" name="text-926-286">
            <a:extLst xmlns:a="http://schemas.openxmlformats.org/drawingml/2006/main">
              <a:ext uri="{FF2B5EF4-FFF2-40B4-BE49-F238E27FC236}">
                <a16:creationId xmlns:a16="http://schemas.microsoft.com/office/drawing/2014/main" id="{58658BEA-B040-4CF3-8FDE-BBF3B784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24150"/>
            <a:ext cx="2724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I{Dut}Dut.cs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{Dut}Dut.cs + [DutDriver]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{Dut}_{Suffix}.cs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{Dut}_{Suffix}.json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refdlls + csproj Reference</a:t>
            </a:r>
          </a:p>
        </p:txBody>
      </p:sp>
      <p:sp>
        <p:nvSpPr>
          <p:cNvPr id="26" name="box-926-462">
            <a:extLst xmlns:a="http://schemas.openxmlformats.org/drawingml/2006/main">
              <a:ext uri="{FF2B5EF4-FFF2-40B4-BE49-F238E27FC236}">
                <a16:creationId xmlns:a16="http://schemas.microsoft.com/office/drawing/2014/main" id="{2EB7E5B4-B612-43FB-88E3-7B715262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00550"/>
            <a:ext cx="27051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1DB"/>
          </a:solidFill>
          <a:ln xmlns:a="http://schemas.openxmlformats.org/drawingml/2006/main" w="9525">
            <a:solidFill>
              <a:srgbClr val="D68012"/>
            </a:solidFill>
            <a:prstDash val="solid"/>
          </a:ln>
        </p:spPr>
      </p:sp>
      <p:sp>
        <p:nvSpPr>
          <p:cNvPr id="27" name="text-936-478">
            <a:extLst xmlns:a="http://schemas.openxmlformats.org/drawingml/2006/main">
              <a:ext uri="{FF2B5EF4-FFF2-40B4-BE49-F238E27FC236}">
                <a16:creationId xmlns:a16="http://schemas.microsoft.com/office/drawing/2014/main" id="{7E064C26-9CB5-4349-B95C-7881D04A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529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68012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D68012"/>
                </a:solidFill>
                <a:latin typeface="Cascadia Mono"/>
                <a:ea typeface="Cascadia Mono"/>
                <a:cs typeface="Cascadia Mono"/>
              </a:rPr>
              <a:t>_ReferencesAdapterReport.md</a:t>
            </a:r>
          </a:p>
        </p:txBody>
      </p:sp>
      <p:sp>
        <p:nvSpPr>
          <p:cNvPr id="28" name="text-42-604">
            <a:extLst xmlns:a="http://schemas.openxmlformats.org/drawingml/2006/main">
              <a:ext uri="{FF2B5EF4-FFF2-40B4-BE49-F238E27FC236}">
                <a16:creationId xmlns:a16="http://schemas.microsoft.com/office/drawing/2014/main" id="{C6B1DE79-4994-44C8-8A13-EB72AF95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rPr>
              <a:t>价值：先机械迁移可识别结构，把人工投入集中到协议差异、业务判断和回归验证。</a:t>
            </a:r>
          </a:p>
        </p:txBody>
      </p:sp>
    </p:spTree>
    <p:extLst>
      <p:ext uri="{BB962C8B-B14F-4D97-AF65-F5344CB8AC3E}">
        <p14:creationId xmlns:p14="http://schemas.microsoft.com/office/powerpoint/2010/main" val="9572362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box-22-36">
            <a:extLst xmlns:a="http://schemas.openxmlformats.org/drawingml/2006/main">
              <a:ext uri="{FF2B5EF4-FFF2-40B4-BE49-F238E27FC236}">
                <a16:creationId xmlns:a16="http://schemas.microsoft.com/office/drawing/2014/main" id="{A28F02A5-9FDB-4880-A474-1537362F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42900"/>
            <a:ext cx="47625" cy="4572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8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98A1F507-95E8-4EA3-84E4-E9522F6A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生成项目 9 层分明，公共与业务边界可读</a:t>
            </a:r>
          </a:p>
        </p:txBody>
      </p:sp>
      <p:sp>
        <p:nvSpPr>
          <p:cNvPr id="3" name="text-1060-42">
            <a:extLst xmlns:a="http://schemas.openxmlformats.org/drawingml/2006/main">
              <a:ext uri="{FF2B5EF4-FFF2-40B4-BE49-F238E27FC236}">
                <a16:creationId xmlns:a16="http://schemas.microsoft.com/office/drawing/2014/main" id="{79711716-1F73-4AEB-A6CC-6405F700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生成项目</a:t>
            </a:r>
          </a:p>
        </p:txBody>
      </p:sp>
      <p:sp>
        <p:nvSpPr>
          <p:cNvPr id="4" name="text-1184-658">
            <a:extLst xmlns:a="http://schemas.openxmlformats.org/drawingml/2006/main">
              <a:ext uri="{FF2B5EF4-FFF2-40B4-BE49-F238E27FC236}">
                <a16:creationId xmlns:a16="http://schemas.microsoft.com/office/drawing/2014/main" id="{8F5EEAED-935E-49E4-9B31-6286D823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text-42-106">
            <a:extLst xmlns:a="http://schemas.openxmlformats.org/drawingml/2006/main">
              <a:ext uri="{FF2B5EF4-FFF2-40B4-BE49-F238E27FC236}">
                <a16:creationId xmlns:a16="http://schemas.microsoft.com/office/drawing/2014/main" id="{662DD61A-2F2C-4B3A-93C9-4F7D4ECF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当前实现边界：Common 提供 01–02 层；业务模板提供 03–09 层，Machine 内按 Type 0/1/2 组织差异。</a:t>
            </a:r>
          </a:p>
        </p:txBody>
      </p:sp>
      <p:sp>
        <p:nvSpPr>
          <p:cNvPr id="6" name="box-70-156">
            <a:extLst xmlns:a="http://schemas.openxmlformats.org/drawingml/2006/main">
              <a:ext uri="{FF2B5EF4-FFF2-40B4-BE49-F238E27FC236}">
                <a16:creationId xmlns:a16="http://schemas.microsoft.com/office/drawing/2014/main" id="{C3BF60D1-BF84-4E63-98AC-0EDE9787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858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box-70-156">
            <a:extLst xmlns:a="http://schemas.openxmlformats.org/drawingml/2006/main">
              <a:ext uri="{FF2B5EF4-FFF2-40B4-BE49-F238E27FC236}">
                <a16:creationId xmlns:a16="http://schemas.microsoft.com/office/drawing/2014/main" id="{30387191-F81E-4FCD-A630-4818CA5B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428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218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80-168">
            <a:extLst xmlns:a="http://schemas.openxmlformats.org/drawingml/2006/main">
              <a:ext uri="{FF2B5EF4-FFF2-40B4-BE49-F238E27FC236}">
                <a16:creationId xmlns:a16="http://schemas.microsoft.com/office/drawing/2014/main" id="{12147DFC-0A2C-4050-AD3F-5BFD9648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09.Updater</a:t>
            </a:r>
          </a:p>
        </p:txBody>
      </p:sp>
      <p:sp>
        <p:nvSpPr>
          <p:cNvPr id="9" name="text-240-167">
            <a:extLst xmlns:a="http://schemas.openxmlformats.org/drawingml/2006/main">
              <a:ext uri="{FF2B5EF4-FFF2-40B4-BE49-F238E27FC236}">
                <a16:creationId xmlns:a16="http://schemas.microsoft.com/office/drawing/2014/main" id="{41479A76-F68F-4AD0-BC85-19F3951B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90675"/>
            <a:ext cx="718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独立升级器</a:t>
            </a:r>
          </a:p>
        </p:txBody>
      </p:sp>
      <p:sp>
        <p:nvSpPr>
          <p:cNvPr id="10" name="text-1004-167">
            <a:extLst xmlns:a="http://schemas.openxmlformats.org/drawingml/2006/main">
              <a:ext uri="{FF2B5EF4-FFF2-40B4-BE49-F238E27FC236}">
                <a16:creationId xmlns:a16="http://schemas.microsoft.com/office/drawing/2014/main" id="{65F3F32F-B5FF-4D63-A51C-A462EF7E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5906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业务模板</a:t>
            </a:r>
          </a:p>
        </p:txBody>
      </p:sp>
      <p:sp>
        <p:nvSpPr>
          <p:cNvPr id="11" name="box-70-208">
            <a:extLst xmlns:a="http://schemas.openxmlformats.org/drawingml/2006/main">
              <a:ext uri="{FF2B5EF4-FFF2-40B4-BE49-F238E27FC236}">
                <a16:creationId xmlns:a16="http://schemas.microsoft.com/office/drawing/2014/main" id="{57564069-0210-4F2F-B31C-CE4D2C88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10858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box-70-208">
            <a:extLst xmlns:a="http://schemas.openxmlformats.org/drawingml/2006/main">
              <a:ext uri="{FF2B5EF4-FFF2-40B4-BE49-F238E27FC236}">
                <a16:creationId xmlns:a16="http://schemas.microsoft.com/office/drawing/2014/main" id="{4E83DBF4-FAF6-4B13-A955-9ED71A04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1428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218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80-220">
            <a:extLst xmlns:a="http://schemas.openxmlformats.org/drawingml/2006/main">
              <a:ext uri="{FF2B5EF4-FFF2-40B4-BE49-F238E27FC236}">
                <a16:creationId xmlns:a16="http://schemas.microsoft.com/office/drawing/2014/main" id="{E5524D7F-CEE6-40EB-ACE8-3D050AEF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08.App</a:t>
            </a:r>
          </a:p>
        </p:txBody>
      </p:sp>
      <p:sp>
        <p:nvSpPr>
          <p:cNvPr id="14" name="text-240-219">
            <a:extLst xmlns:a="http://schemas.openxmlformats.org/drawingml/2006/main">
              <a:ext uri="{FF2B5EF4-FFF2-40B4-BE49-F238E27FC236}">
                <a16:creationId xmlns:a16="http://schemas.microsoft.com/office/drawing/2014/main" id="{1090F603-8E85-4C21-AD6C-08FFCA66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85975"/>
            <a:ext cx="718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WPF 启动入口 / Host / DI</a:t>
            </a:r>
          </a:p>
        </p:txBody>
      </p:sp>
      <p:sp>
        <p:nvSpPr>
          <p:cNvPr id="15" name="text-1004-219">
            <a:extLst xmlns:a="http://schemas.openxmlformats.org/drawingml/2006/main">
              <a:ext uri="{FF2B5EF4-FFF2-40B4-BE49-F238E27FC236}">
                <a16:creationId xmlns:a16="http://schemas.microsoft.com/office/drawing/2014/main" id="{5A026635-8254-4E1B-8E13-73D1217C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85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业务模板</a:t>
            </a:r>
          </a:p>
        </p:txBody>
      </p:sp>
      <p:sp>
        <p:nvSpPr>
          <p:cNvPr id="16" name="box-70-260">
            <a:extLst xmlns:a="http://schemas.openxmlformats.org/drawingml/2006/main">
              <a:ext uri="{FF2B5EF4-FFF2-40B4-BE49-F238E27FC236}">
                <a16:creationId xmlns:a16="http://schemas.microsoft.com/office/drawing/2014/main" id="{BDC509E5-E677-40EF-88B0-029B3BF4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0858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box-70-260">
            <a:extLst xmlns:a="http://schemas.openxmlformats.org/drawingml/2006/main">
              <a:ext uri="{FF2B5EF4-FFF2-40B4-BE49-F238E27FC236}">
                <a16:creationId xmlns:a16="http://schemas.microsoft.com/office/drawing/2014/main" id="{0B75C02E-BDD6-479F-B53F-1E13433A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428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218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80-272">
            <a:extLst xmlns:a="http://schemas.openxmlformats.org/drawingml/2006/main">
              <a:ext uri="{FF2B5EF4-FFF2-40B4-BE49-F238E27FC236}">
                <a16:creationId xmlns:a16="http://schemas.microsoft.com/office/drawing/2014/main" id="{5B597B84-7751-4CBD-ACF6-B7F64526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07.UI</a:t>
            </a:r>
          </a:p>
        </p:txBody>
      </p:sp>
      <p:sp>
        <p:nvSpPr>
          <p:cNvPr id="19" name="text-240-271">
            <a:extLst xmlns:a="http://schemas.openxmlformats.org/drawingml/2006/main">
              <a:ext uri="{FF2B5EF4-FFF2-40B4-BE49-F238E27FC236}">
                <a16:creationId xmlns:a16="http://schemas.microsoft.com/office/drawing/2014/main" id="{59592428-AE0E-44F7-AD71-046896BD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81275"/>
            <a:ext cx="718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ViewModels / Views / 报表与业务页面</a:t>
            </a:r>
          </a:p>
        </p:txBody>
      </p:sp>
      <p:sp>
        <p:nvSpPr>
          <p:cNvPr id="20" name="text-1004-271">
            <a:extLst xmlns:a="http://schemas.openxmlformats.org/drawingml/2006/main">
              <a:ext uri="{FF2B5EF4-FFF2-40B4-BE49-F238E27FC236}">
                <a16:creationId xmlns:a16="http://schemas.microsoft.com/office/drawing/2014/main" id="{BAD896C0-F0A9-438C-B202-284536BB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812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业务模板</a:t>
            </a:r>
          </a:p>
        </p:txBody>
      </p:sp>
      <p:sp>
        <p:nvSpPr>
          <p:cNvPr id="21" name="box-70-312">
            <a:extLst xmlns:a="http://schemas.openxmlformats.org/drawingml/2006/main">
              <a:ext uri="{FF2B5EF4-FFF2-40B4-BE49-F238E27FC236}">
                <a16:creationId xmlns:a16="http://schemas.microsoft.com/office/drawing/2014/main" id="{EE714DE5-7C0F-432E-811C-8022C2B9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10858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box-70-312">
            <a:extLst xmlns:a="http://schemas.openxmlformats.org/drawingml/2006/main">
              <a:ext uri="{FF2B5EF4-FFF2-40B4-BE49-F238E27FC236}">
                <a16:creationId xmlns:a16="http://schemas.microsoft.com/office/drawing/2014/main" id="{9F2EFF37-91B7-4B12-9CBD-D41D7B97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1428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218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80-324">
            <a:extLst xmlns:a="http://schemas.openxmlformats.org/drawingml/2006/main">
              <a:ext uri="{FF2B5EF4-FFF2-40B4-BE49-F238E27FC236}">
                <a16:creationId xmlns:a16="http://schemas.microsoft.com/office/drawing/2014/main" id="{6E85D884-47B9-48DE-8E08-7A0B7840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06.Automation</a:t>
            </a:r>
          </a:p>
        </p:txBody>
      </p:sp>
      <p:sp>
        <p:nvSpPr>
          <p:cNvPr id="24" name="text-240-323">
            <a:extLst xmlns:a="http://schemas.openxmlformats.org/drawingml/2006/main">
              <a:ext uri="{FF2B5EF4-FFF2-40B4-BE49-F238E27FC236}">
                <a16:creationId xmlns:a16="http://schemas.microsoft.com/office/drawing/2014/main" id="{FBB613BE-E536-4E46-99B6-E6DB9451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76575"/>
            <a:ext cx="718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PLC 联动与自动化编排</a:t>
            </a:r>
          </a:p>
        </p:txBody>
      </p:sp>
      <p:sp>
        <p:nvSpPr>
          <p:cNvPr id="25" name="text-1004-323">
            <a:extLst xmlns:a="http://schemas.openxmlformats.org/drawingml/2006/main">
              <a:ext uri="{FF2B5EF4-FFF2-40B4-BE49-F238E27FC236}">
                <a16:creationId xmlns:a16="http://schemas.microsoft.com/office/drawing/2014/main" id="{B5275A24-591F-44C9-9009-FA05AACB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765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业务模板</a:t>
            </a:r>
          </a:p>
        </p:txBody>
      </p:sp>
      <p:sp>
        <p:nvSpPr>
          <p:cNvPr id="26" name="box-70-364">
            <a:extLst xmlns:a="http://schemas.openxmlformats.org/drawingml/2006/main">
              <a:ext uri="{FF2B5EF4-FFF2-40B4-BE49-F238E27FC236}">
                <a16:creationId xmlns:a16="http://schemas.microsoft.com/office/drawing/2014/main" id="{C89C1967-B7D8-4023-97AB-1BE878B5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10858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box-70-364">
            <a:extLst xmlns:a="http://schemas.openxmlformats.org/drawingml/2006/main">
              <a:ext uri="{FF2B5EF4-FFF2-40B4-BE49-F238E27FC236}">
                <a16:creationId xmlns:a16="http://schemas.microsoft.com/office/drawing/2014/main" id="{42E30C4B-92B8-44B2-A2A0-9BC46E72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1428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218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80-376">
            <a:extLst xmlns:a="http://schemas.openxmlformats.org/drawingml/2006/main">
              <a:ext uri="{FF2B5EF4-FFF2-40B4-BE49-F238E27FC236}">
                <a16:creationId xmlns:a16="http://schemas.microsoft.com/office/drawing/2014/main" id="{74ECE26D-30E3-427A-9123-B96CC259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05.Jigs</a:t>
            </a:r>
          </a:p>
        </p:txBody>
      </p:sp>
      <p:sp>
        <p:nvSpPr>
          <p:cNvPr id="29" name="text-240-375">
            <a:extLst xmlns:a="http://schemas.openxmlformats.org/drawingml/2006/main">
              <a:ext uri="{FF2B5EF4-FFF2-40B4-BE49-F238E27FC236}">
                <a16:creationId xmlns:a16="http://schemas.microsoft.com/office/drawing/2014/main" id="{BFB0FE13-0E5B-40E6-BE1A-C127DDE7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71875"/>
            <a:ext cx="718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Manifest 目录与 JigCatalog</a:t>
            </a:r>
          </a:p>
        </p:txBody>
      </p:sp>
      <p:sp>
        <p:nvSpPr>
          <p:cNvPr id="30" name="text-1004-375">
            <a:extLst xmlns:a="http://schemas.openxmlformats.org/drawingml/2006/main">
              <a:ext uri="{FF2B5EF4-FFF2-40B4-BE49-F238E27FC236}">
                <a16:creationId xmlns:a16="http://schemas.microsoft.com/office/drawing/2014/main" id="{ABB14161-6CCE-4809-B71F-E55C8BD9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718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业务模板</a:t>
            </a:r>
          </a:p>
        </p:txBody>
      </p:sp>
      <p:sp>
        <p:nvSpPr>
          <p:cNvPr id="31" name="box-70-416">
            <a:extLst xmlns:a="http://schemas.openxmlformats.org/drawingml/2006/main">
              <a:ext uri="{FF2B5EF4-FFF2-40B4-BE49-F238E27FC236}">
                <a16:creationId xmlns:a16="http://schemas.microsoft.com/office/drawing/2014/main" id="{A4DC9A27-2FA9-4A2C-86E0-7A9F7D41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858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box-70-416">
            <a:extLst xmlns:a="http://schemas.openxmlformats.org/drawingml/2006/main">
              <a:ext uri="{FF2B5EF4-FFF2-40B4-BE49-F238E27FC236}">
                <a16:creationId xmlns:a16="http://schemas.microsoft.com/office/drawing/2014/main" id="{0F608EB6-9543-4F34-84F8-0A6D3D45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428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218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80-428">
            <a:extLst xmlns:a="http://schemas.openxmlformats.org/drawingml/2006/main">
              <a:ext uri="{FF2B5EF4-FFF2-40B4-BE49-F238E27FC236}">
                <a16:creationId xmlns:a16="http://schemas.microsoft.com/office/drawing/2014/main" id="{B584BBD2-C85F-4F7B-8629-4BCEB293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04.TestSteps</a:t>
            </a:r>
          </a:p>
        </p:txBody>
      </p:sp>
      <p:sp>
        <p:nvSpPr>
          <p:cNvPr id="34" name="text-240-427">
            <a:extLst xmlns:a="http://schemas.openxmlformats.org/drawingml/2006/main">
              <a:ext uri="{FF2B5EF4-FFF2-40B4-BE49-F238E27FC236}">
                <a16:creationId xmlns:a16="http://schemas.microsoft.com/office/drawing/2014/main" id="{E97CC0E0-BBE3-480B-8FD5-66DD8160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67175"/>
            <a:ext cx="718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IStepHandler：通用与设备特有测试项</a:t>
            </a:r>
          </a:p>
        </p:txBody>
      </p:sp>
      <p:sp>
        <p:nvSpPr>
          <p:cNvPr id="35" name="text-1004-427">
            <a:extLst xmlns:a="http://schemas.openxmlformats.org/drawingml/2006/main">
              <a:ext uri="{FF2B5EF4-FFF2-40B4-BE49-F238E27FC236}">
                <a16:creationId xmlns:a16="http://schemas.microsoft.com/office/drawing/2014/main" id="{E3ED4EF4-D3BB-4A81-90A6-86A46EE2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671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业务模板</a:t>
            </a:r>
          </a:p>
        </p:txBody>
      </p:sp>
      <p:sp>
        <p:nvSpPr>
          <p:cNvPr id="36" name="box-70-468">
            <a:extLst xmlns:a="http://schemas.openxmlformats.org/drawingml/2006/main">
              <a:ext uri="{FF2B5EF4-FFF2-40B4-BE49-F238E27FC236}">
                <a16:creationId xmlns:a16="http://schemas.microsoft.com/office/drawing/2014/main" id="{8ABE6BDA-DA25-44CB-8C60-FB815860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858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box-70-468">
            <a:extLst xmlns:a="http://schemas.openxmlformats.org/drawingml/2006/main">
              <a:ext uri="{FF2B5EF4-FFF2-40B4-BE49-F238E27FC236}">
                <a16:creationId xmlns:a16="http://schemas.microsoft.com/office/drawing/2014/main" id="{B4735D3F-0D48-4BBE-8284-BB4F1A5B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428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218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-80-480">
            <a:extLst xmlns:a="http://schemas.openxmlformats.org/drawingml/2006/main">
              <a:ext uri="{FF2B5EF4-FFF2-40B4-BE49-F238E27FC236}">
                <a16:creationId xmlns:a16="http://schemas.microsoft.com/office/drawing/2014/main" id="{4A1B5343-9F6C-4465-BB6E-2F57D3C6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03.Devices</a:t>
            </a:r>
          </a:p>
        </p:txBody>
      </p:sp>
      <p:sp>
        <p:nvSpPr>
          <p:cNvPr id="39" name="text-240-479">
            <a:extLst xmlns:a="http://schemas.openxmlformats.org/drawingml/2006/main">
              <a:ext uri="{FF2B5EF4-FFF2-40B4-BE49-F238E27FC236}">
                <a16:creationId xmlns:a16="http://schemas.microsoft.com/office/drawing/2014/main" id="{4237EE00-7736-4F46-82B1-268CF4A6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62475"/>
            <a:ext cx="718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设备抽象、驱动、蓝牙、标准模块</a:t>
            </a:r>
          </a:p>
        </p:txBody>
      </p:sp>
      <p:sp>
        <p:nvSpPr>
          <p:cNvPr id="40" name="text-1004-479">
            <a:extLst xmlns:a="http://schemas.openxmlformats.org/drawingml/2006/main">
              <a:ext uri="{FF2B5EF4-FFF2-40B4-BE49-F238E27FC236}">
                <a16:creationId xmlns:a16="http://schemas.microsoft.com/office/drawing/2014/main" id="{E6123990-5454-4DFE-BDE9-AA74BCA3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624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业务模板</a:t>
            </a:r>
          </a:p>
        </p:txBody>
      </p:sp>
      <p:sp>
        <p:nvSpPr>
          <p:cNvPr id="41" name="box-70-520">
            <a:extLst xmlns:a="http://schemas.openxmlformats.org/drawingml/2006/main">
              <a:ext uri="{FF2B5EF4-FFF2-40B4-BE49-F238E27FC236}">
                <a16:creationId xmlns:a16="http://schemas.microsoft.com/office/drawing/2014/main" id="{9003BF59-FD3D-47C5-AE50-544BFD74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858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box-70-520">
            <a:extLst xmlns:a="http://schemas.openxmlformats.org/drawingml/2006/main">
              <a:ext uri="{FF2B5EF4-FFF2-40B4-BE49-F238E27FC236}">
                <a16:creationId xmlns:a16="http://schemas.microsoft.com/office/drawing/2014/main" id="{B3E767F4-891A-45A5-ACFA-D8B3EFD3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428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88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-80-532">
            <a:extLst xmlns:a="http://schemas.openxmlformats.org/drawingml/2006/main">
              <a:ext uri="{FF2B5EF4-FFF2-40B4-BE49-F238E27FC236}">
                <a16:creationId xmlns:a16="http://schemas.microsoft.com/office/drawing/2014/main" id="{BA8AA7E6-2ACC-4A54-A495-BDA8FDFC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02.Infra</a:t>
            </a:r>
          </a:p>
        </p:txBody>
      </p:sp>
      <p:sp>
        <p:nvSpPr>
          <p:cNvPr id="44" name="text-240-531">
            <a:extLst xmlns:a="http://schemas.openxmlformats.org/drawingml/2006/main">
              <a:ext uri="{FF2B5EF4-FFF2-40B4-BE49-F238E27FC236}">
                <a16:creationId xmlns:a16="http://schemas.microsoft.com/office/drawing/2014/main" id="{124FE9C0-DA6D-438F-AFDD-93A75CCC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57775"/>
            <a:ext cx="718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SQLite / MySQL / 日志 / 认证 / 配置</a:t>
            </a:r>
          </a:p>
        </p:txBody>
      </p:sp>
      <p:sp>
        <p:nvSpPr>
          <p:cNvPr id="45" name="text-1004-531">
            <a:extLst xmlns:a="http://schemas.openxmlformats.org/drawingml/2006/main">
              <a:ext uri="{FF2B5EF4-FFF2-40B4-BE49-F238E27FC236}">
                <a16:creationId xmlns:a16="http://schemas.microsoft.com/office/drawing/2014/main" id="{57DEBD77-10B1-444B-88DB-05443B86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577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Common</a:t>
            </a:r>
          </a:p>
        </p:txBody>
      </p:sp>
      <p:sp>
        <p:nvSpPr>
          <p:cNvPr id="46" name="box-70-572">
            <a:extLst xmlns:a="http://schemas.openxmlformats.org/drawingml/2006/main">
              <a:ext uri="{FF2B5EF4-FFF2-40B4-BE49-F238E27FC236}">
                <a16:creationId xmlns:a16="http://schemas.microsoft.com/office/drawing/2014/main" id="{54EF467C-D90E-451B-B1CC-609282C4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10858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box-70-572">
            <a:extLst xmlns:a="http://schemas.openxmlformats.org/drawingml/2006/main">
              <a:ext uri="{FF2B5EF4-FFF2-40B4-BE49-F238E27FC236}">
                <a16:creationId xmlns:a16="http://schemas.microsoft.com/office/drawing/2014/main" id="{CD3390BD-567D-42E6-945E-4B05E8F9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1428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88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ext-80-584">
            <a:extLst xmlns:a="http://schemas.openxmlformats.org/drawingml/2006/main">
              <a:ext uri="{FF2B5EF4-FFF2-40B4-BE49-F238E27FC236}">
                <a16:creationId xmlns:a16="http://schemas.microsoft.com/office/drawing/2014/main" id="{DDA5DD39-04B9-448A-874D-130AEEC8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01.Core</a:t>
            </a:r>
          </a:p>
        </p:txBody>
      </p:sp>
      <p:sp>
        <p:nvSpPr>
          <p:cNvPr id="49" name="text-240-583">
            <a:extLst xmlns:a="http://schemas.openxmlformats.org/drawingml/2006/main">
              <a:ext uri="{FF2B5EF4-FFF2-40B4-BE49-F238E27FC236}">
                <a16:creationId xmlns:a16="http://schemas.microsoft.com/office/drawing/2014/main" id="{45EAC522-6E05-4E2E-8C77-CE03337C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53075"/>
            <a:ext cx="718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契约、TestRunner、TestContext、判定体系</a:t>
            </a:r>
          </a:p>
        </p:txBody>
      </p:sp>
      <p:sp>
        <p:nvSpPr>
          <p:cNvPr id="50" name="text-1004-583">
            <a:extLst xmlns:a="http://schemas.openxmlformats.org/drawingml/2006/main">
              <a:ext uri="{FF2B5EF4-FFF2-40B4-BE49-F238E27FC236}">
                <a16:creationId xmlns:a16="http://schemas.microsoft.com/office/drawing/2014/main" id="{C1814108-C57A-4862-9490-B89D1E5F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5530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Common</a:t>
            </a:r>
          </a:p>
        </p:txBody>
      </p:sp>
      <p:sp>
        <p:nvSpPr>
          <p:cNvPr id="51" name="text-72-630">
            <a:extLst xmlns:a="http://schemas.openxmlformats.org/drawingml/2006/main">
              <a:ext uri="{FF2B5EF4-FFF2-40B4-BE49-F238E27FC236}">
                <a16:creationId xmlns:a16="http://schemas.microsoft.com/office/drawing/2014/main" id="{B8AC24F4-9376-4FE3-AEDB-C2FE5DC0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2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5E6672"/>
                </a:solidFill>
                <a:latin typeface="Cascadia Mono"/>
                <a:ea typeface="Cascadia Mono"/>
                <a:cs typeface="Cascadia Mono"/>
              </a:rPr>
              <a:t>libs / DeviceLink / 第三方通信组件</a:t>
            </a:r>
          </a:p>
        </p:txBody>
      </p:sp>
    </p:spTree>
    <p:extLst>
      <p:ext uri="{BB962C8B-B14F-4D97-AF65-F5344CB8AC3E}">
        <p14:creationId xmlns:p14="http://schemas.microsoft.com/office/powerpoint/2010/main" val="20973166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box-22-36">
            <a:extLst xmlns:a="http://schemas.openxmlformats.org/drawingml/2006/main">
              <a:ext uri="{FF2B5EF4-FFF2-40B4-BE49-F238E27FC236}">
                <a16:creationId xmlns:a16="http://schemas.microsoft.com/office/drawing/2014/main" id="{8F6CE9B3-C6D7-47A8-9629-569AD8AD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42900"/>
            <a:ext cx="47625" cy="4572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8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D1C52564-859A-4366-A986-D39129C6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Manifest 驱动，TestRunner 解耦设备</a:t>
            </a:r>
          </a:p>
        </p:txBody>
      </p:sp>
      <p:sp>
        <p:nvSpPr>
          <p:cNvPr id="3" name="text-1060-42">
            <a:extLst xmlns:a="http://schemas.openxmlformats.org/drawingml/2006/main">
              <a:ext uri="{FF2B5EF4-FFF2-40B4-BE49-F238E27FC236}">
                <a16:creationId xmlns:a16="http://schemas.microsoft.com/office/drawing/2014/main" id="{0DD52411-8FD6-41B1-A0F6-E32BDBDA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运行时架构</a:t>
            </a:r>
          </a:p>
        </p:txBody>
      </p:sp>
      <p:sp>
        <p:nvSpPr>
          <p:cNvPr id="4" name="text-1184-658">
            <a:extLst xmlns:a="http://schemas.openxmlformats.org/drawingml/2006/main">
              <a:ext uri="{FF2B5EF4-FFF2-40B4-BE49-F238E27FC236}">
                <a16:creationId xmlns:a16="http://schemas.microsoft.com/office/drawing/2014/main" id="{DBC3F025-9C4E-47FD-B069-D6E7C9D7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text-42-108">
            <a:extLst xmlns:a="http://schemas.openxmlformats.org/drawingml/2006/main">
              <a:ext uri="{FF2B5EF4-FFF2-40B4-BE49-F238E27FC236}">
                <a16:creationId xmlns:a16="http://schemas.microsoft.com/office/drawing/2014/main" id="{86E0C777-AC40-4BC2-90FC-003B3EA1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App 启动时组装各层；运行时按 (DeviceFamily, Kind) 派发处理器，多工位可并行，结果统一落库。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DA987-9305-4F71-AA29-7136C807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337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A77DC-4298-436F-8E79-102AABBD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337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493E3-EF31-440A-805D-073496A4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337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DD75A-0E44-4B6F-97CA-FAF81625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9337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770F3D-52EB-47E3-96EC-24A194E7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337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box-42-238">
            <a:extLst xmlns:a="http://schemas.openxmlformats.org/drawingml/2006/main">
              <a:ext uri="{FF2B5EF4-FFF2-40B4-BE49-F238E27FC236}">
                <a16:creationId xmlns:a16="http://schemas.microsoft.com/office/drawing/2014/main" id="{2AA618C7-08E0-422B-90DF-7C61F4C3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1428750" cy="156210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text-54-258">
            <a:extLst xmlns:a="http://schemas.openxmlformats.org/drawingml/2006/main">
              <a:ext uri="{FF2B5EF4-FFF2-40B4-BE49-F238E27FC236}">
                <a16:creationId xmlns:a16="http://schemas.microsoft.com/office/drawing/2014/main" id="{012B84E0-6AE7-4648-8C2F-509D326F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E6672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5E6672"/>
                </a:solidFill>
                <a:latin typeface="Cascadia Mono"/>
                <a:ea typeface="Cascadia Mono"/>
                <a:cs typeface="Cascadia Mono"/>
              </a:rPr>
              <a:t>07.UI</a:t>
            </a:r>
          </a:p>
        </p:txBody>
      </p:sp>
      <p:sp>
        <p:nvSpPr>
          <p:cNvPr id="13" name="text-54-310">
            <a:extLst xmlns:a="http://schemas.openxmlformats.org/drawingml/2006/main">
              <a:ext uri="{FF2B5EF4-FFF2-40B4-BE49-F238E27FC236}">
                <a16:creationId xmlns:a16="http://schemas.microsoft.com/office/drawing/2014/main" id="{2B1ADB2B-29C1-48AF-B8D4-1EEF0507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200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UI / ViewModel</a:t>
            </a:r>
          </a:p>
        </p:txBody>
      </p:sp>
      <p:sp>
        <p:nvSpPr>
          <p:cNvPr id="14" name="box-235-238">
            <a:extLst xmlns:a="http://schemas.openxmlformats.org/drawingml/2006/main">
              <a:ext uri="{FF2B5EF4-FFF2-40B4-BE49-F238E27FC236}">
                <a16:creationId xmlns:a16="http://schemas.microsoft.com/office/drawing/2014/main" id="{2C9D7C11-D866-43A2-B6AB-0D188FC7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266950"/>
            <a:ext cx="1428750" cy="156210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-247-258">
            <a:extLst xmlns:a="http://schemas.openxmlformats.org/drawingml/2006/main">
              <a:ext uri="{FF2B5EF4-FFF2-40B4-BE49-F238E27FC236}">
                <a16:creationId xmlns:a16="http://schemas.microsoft.com/office/drawing/2014/main" id="{C7D6CF45-0C4C-4218-8E71-BF1F8C8B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4574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5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E6672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5E6672"/>
                </a:solidFill>
                <a:latin typeface="Cascadia Mono"/>
                <a:ea typeface="Cascadia Mono"/>
                <a:cs typeface="Cascadia Mono"/>
              </a:rPr>
              <a:t>06.Automation</a:t>
            </a:r>
          </a:p>
        </p:txBody>
      </p:sp>
      <p:sp>
        <p:nvSpPr>
          <p:cNvPr id="16" name="text-247-310">
            <a:extLst xmlns:a="http://schemas.openxmlformats.org/drawingml/2006/main">
              <a:ext uri="{FF2B5EF4-FFF2-40B4-BE49-F238E27FC236}">
                <a16:creationId xmlns:a16="http://schemas.microsoft.com/office/drawing/2014/main" id="{5FA03930-4F0F-469D-995C-4F63846E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952750"/>
            <a:ext cx="1200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Automation</a:t>
            </a:r>
          </a:p>
        </p:txBody>
      </p:sp>
      <p:sp>
        <p:nvSpPr>
          <p:cNvPr id="17" name="box-428-238">
            <a:extLst xmlns:a="http://schemas.openxmlformats.org/drawingml/2006/main">
              <a:ext uri="{FF2B5EF4-FFF2-40B4-BE49-F238E27FC236}">
                <a16:creationId xmlns:a16="http://schemas.microsoft.com/office/drawing/2014/main" id="{AEE3C2CF-A010-4E3E-8E86-9E01A651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66950"/>
            <a:ext cx="1428750" cy="156210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1888D4"/>
            </a:solidFill>
            <a:prstDash val="solid"/>
          </a:ln>
        </p:spPr>
      </p:sp>
      <p:sp>
        <p:nvSpPr>
          <p:cNvPr id="18" name="text-440-258">
            <a:extLst xmlns:a="http://schemas.openxmlformats.org/drawingml/2006/main">
              <a:ext uri="{FF2B5EF4-FFF2-40B4-BE49-F238E27FC236}">
                <a16:creationId xmlns:a16="http://schemas.microsoft.com/office/drawing/2014/main" id="{777CA125-DE3F-4A2B-86C4-284A5A3E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574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88D4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1888D4"/>
                </a:solidFill>
                <a:latin typeface="Cascadia Mono"/>
                <a:ea typeface="Cascadia Mono"/>
                <a:cs typeface="Cascadia Mono"/>
              </a:rPr>
              <a:t>01.Core</a:t>
            </a:r>
          </a:p>
        </p:txBody>
      </p:sp>
      <p:sp>
        <p:nvSpPr>
          <p:cNvPr id="19" name="text-440-310">
            <a:extLst xmlns:a="http://schemas.openxmlformats.org/drawingml/2006/main">
              <a:ext uri="{FF2B5EF4-FFF2-40B4-BE49-F238E27FC236}">
                <a16:creationId xmlns:a16="http://schemas.microsoft.com/office/drawing/2014/main" id="{841C7F0B-453C-42B9-9544-0062AC60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52750"/>
            <a:ext cx="1200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TestRunner</a:t>
            </a:r>
          </a:p>
        </p:txBody>
      </p:sp>
      <p:sp>
        <p:nvSpPr>
          <p:cNvPr id="20" name="box-621-238">
            <a:extLst xmlns:a="http://schemas.openxmlformats.org/drawingml/2006/main">
              <a:ext uri="{FF2B5EF4-FFF2-40B4-BE49-F238E27FC236}">
                <a16:creationId xmlns:a16="http://schemas.microsoft.com/office/drawing/2014/main" id="{C89A90C8-5EF1-4619-8F4C-C2BE6B60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66950"/>
            <a:ext cx="1428750" cy="156210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E8F4EE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text-633-258">
            <a:extLst xmlns:a="http://schemas.openxmlformats.org/drawingml/2006/main">
              <a:ext uri="{FF2B5EF4-FFF2-40B4-BE49-F238E27FC236}">
                <a16:creationId xmlns:a16="http://schemas.microsoft.com/office/drawing/2014/main" id="{DC268A01-43A7-4B3E-96D3-2EF6F7C8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4574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E6672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5E6672"/>
                </a:solidFill>
                <a:latin typeface="Cascadia Mono"/>
                <a:ea typeface="Cascadia Mono"/>
                <a:cs typeface="Cascadia Mono"/>
              </a:rPr>
              <a:t>04.TestSteps</a:t>
            </a:r>
          </a:p>
        </p:txBody>
      </p:sp>
      <p:sp>
        <p:nvSpPr>
          <p:cNvPr id="22" name="text-633-310">
            <a:extLst xmlns:a="http://schemas.openxmlformats.org/drawingml/2006/main">
              <a:ext uri="{FF2B5EF4-FFF2-40B4-BE49-F238E27FC236}">
                <a16:creationId xmlns:a16="http://schemas.microsoft.com/office/drawing/2014/main" id="{E62E93F0-1CA6-4DD3-92B5-6D24ED8F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952750"/>
            <a:ext cx="1200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StepHandler</a:t>
            </a:r>
          </a:p>
        </p:txBody>
      </p:sp>
      <p:sp>
        <p:nvSpPr>
          <p:cNvPr id="23" name="box-814-238">
            <a:extLst xmlns:a="http://schemas.openxmlformats.org/drawingml/2006/main">
              <a:ext uri="{FF2B5EF4-FFF2-40B4-BE49-F238E27FC236}">
                <a16:creationId xmlns:a16="http://schemas.microsoft.com/office/drawing/2014/main" id="{6AA6FB17-AA5A-4C99-8B13-56843720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1428750" cy="156210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1D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text-826-258">
            <a:extLst xmlns:a="http://schemas.openxmlformats.org/drawingml/2006/main">
              <a:ext uri="{FF2B5EF4-FFF2-40B4-BE49-F238E27FC236}">
                <a16:creationId xmlns:a16="http://schemas.microsoft.com/office/drawing/2014/main" id="{B6B097D0-DDCF-4E4F-AB62-DBBDDB68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574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E6672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5E6672"/>
                </a:solidFill>
                <a:latin typeface="Cascadia Mono"/>
                <a:ea typeface="Cascadia Mono"/>
                <a:cs typeface="Cascadia Mono"/>
              </a:rPr>
              <a:t>03.Devices</a:t>
            </a:r>
          </a:p>
        </p:txBody>
      </p:sp>
      <p:sp>
        <p:nvSpPr>
          <p:cNvPr id="25" name="text-826-310">
            <a:extLst xmlns:a="http://schemas.openxmlformats.org/drawingml/2006/main">
              <a:ext uri="{FF2B5EF4-FFF2-40B4-BE49-F238E27FC236}">
                <a16:creationId xmlns:a16="http://schemas.microsoft.com/office/drawing/2014/main" id="{9583B651-66DA-42F9-B305-626B0255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52750"/>
            <a:ext cx="1200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DUT / 标准盒 / PLC</a:t>
            </a:r>
          </a:p>
        </p:txBody>
      </p:sp>
      <p:sp>
        <p:nvSpPr>
          <p:cNvPr id="26" name="box-1007-238">
            <a:extLst xmlns:a="http://schemas.openxmlformats.org/drawingml/2006/main">
              <a:ext uri="{FF2B5EF4-FFF2-40B4-BE49-F238E27FC236}">
                <a16:creationId xmlns:a16="http://schemas.microsoft.com/office/drawing/2014/main" id="{7763C175-3961-450C-8339-520E6E21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266950"/>
            <a:ext cx="1428750" cy="156210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text-1019-258">
            <a:extLst xmlns:a="http://schemas.openxmlformats.org/drawingml/2006/main">
              <a:ext uri="{FF2B5EF4-FFF2-40B4-BE49-F238E27FC236}">
                <a16:creationId xmlns:a16="http://schemas.microsoft.com/office/drawing/2014/main" id="{D93095C3-2C91-4C94-8E28-693E4F0D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4574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41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E6672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5E6672"/>
                </a:solidFill>
                <a:latin typeface="Cascadia Mono"/>
                <a:ea typeface="Cascadia Mono"/>
                <a:cs typeface="Cascadia Mono"/>
              </a:rPr>
              <a:t>02.Infrastructure</a:t>
            </a:r>
          </a:p>
        </p:txBody>
      </p:sp>
      <p:sp>
        <p:nvSpPr>
          <p:cNvPr id="28" name="text-1019-310">
            <a:extLst xmlns:a="http://schemas.openxmlformats.org/drawingml/2006/main">
              <a:ext uri="{FF2B5EF4-FFF2-40B4-BE49-F238E27FC236}">
                <a16:creationId xmlns:a16="http://schemas.microsoft.com/office/drawing/2014/main" id="{314BCA74-D121-4F93-96A6-401984A2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952750"/>
            <a:ext cx="1200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SQLite → MySQL</a:t>
            </a:r>
          </a:p>
        </p:txBody>
      </p:sp>
      <p:sp>
        <p:nvSpPr>
          <p:cNvPr id="29" name="box-230-458">
            <a:extLst xmlns:a="http://schemas.openxmlformats.org/drawingml/2006/main">
              <a:ext uri="{FF2B5EF4-FFF2-40B4-BE49-F238E27FC236}">
                <a16:creationId xmlns:a16="http://schemas.microsoft.com/office/drawing/2014/main" id="{F48E94E1-8ECA-4074-9405-875BFECB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62450"/>
            <a:ext cx="7810500" cy="742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254-480">
            <a:extLst xmlns:a="http://schemas.openxmlformats.org/drawingml/2006/main">
              <a:ext uri="{FF2B5EF4-FFF2-40B4-BE49-F238E27FC236}">
                <a16:creationId xmlns:a16="http://schemas.microsoft.com/office/drawing/2014/main" id="{4AE64806-FD62-42AB-9E7A-7F93361D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72000"/>
            <a:ext cx="735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621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JigManifest(JSON) → JigCatalog → TestRunner → StepResult → 结果库 → 批次报告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49CF5D-4162-43EC-A86E-6FD6F7C0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857625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88D4"/>
          </a:solidFill>
          <a:ln xmlns:a="http://schemas.openxmlformats.org/drawingml/2006/main" w="0">
            <a:solidFill>
              <a:srgbClr val="1888D4"/>
            </a:solidFill>
            <a:prstDash val="solid"/>
          </a:ln>
        </p:spPr>
      </p:sp>
      <p:sp>
        <p:nvSpPr>
          <p:cNvPr id="32" name="text-170-568">
            <a:extLst xmlns:a="http://schemas.openxmlformats.org/drawingml/2006/main">
              <a:ext uri="{FF2B5EF4-FFF2-40B4-BE49-F238E27FC236}">
                <a16:creationId xmlns:a16="http://schemas.microsoft.com/office/drawing/2014/main" id="{DDF1B839-C6AE-4C23-8FAB-39308054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102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71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rPr>
              <a:t>事件旁路：StepChanged / Message / SampleReported / ManualConfirmRequested → UI 实时进度与曲线</a:t>
            </a:r>
          </a:p>
        </p:txBody>
      </p:sp>
    </p:spTree>
    <p:extLst>
      <p:ext uri="{BB962C8B-B14F-4D97-AF65-F5344CB8AC3E}">
        <p14:creationId xmlns:p14="http://schemas.microsoft.com/office/powerpoint/2010/main" val="68495125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A70C0B52-FD42-4245-9A48-ABC15FFA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8D95F336-D368-4F9B-A33F-747F61BE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新增产品收敛为一次生成 + 三类业务填充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E35DF7E-E485-4FD5-B66C-3489608E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F4A77CBB-09E7-46E3-98C2-072855E0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31F14867-44CE-4C0B-B05F-54B779CB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7B126A0E-3497-41A9-8210-6EA88E9C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rPr>
              <a:t>STEP 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B9AE60FF-CAD9-4C97-9AB8-C9409CB5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rPr>
              <a:t>STEP 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D5199BF-7835-4F8B-8485-EE590D2B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rPr>
              <a:t>STEP 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A720C2B-72D8-4992-8E70-7C9E4D22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填充三类业务差异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① Type 0 出厂检验逻辑
② Type 1 组件测试逻辑
③ Type 2 整机测试逻辑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F66C391A-0FEA-4F4C-A77C-55E1F94B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生成 Machine 项目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testrig-cli --biz machine --code ConST221
自动合入 Common，替换令牌并完成自检。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A5305214-15F6-48B6-A228-598355F6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验证与部署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dotnet build ConST221.sln
仿真通过后，将 UseReal 切换为 true 接入真机。</a:t>
            </a:r>
          </a:p>
        </p:txBody>
      </p:sp>
      <p:sp>
        <p:nvSpPr>
          <p:cNvPr id="13" name="box-22-36">
            <a:extLst xmlns:a="http://schemas.openxmlformats.org/drawingml/2006/main">
              <a:ext uri="{FF2B5EF4-FFF2-40B4-BE49-F238E27FC236}">
                <a16:creationId xmlns:a16="http://schemas.microsoft.com/office/drawing/2014/main" id="{5B1FF556-DDAA-44D1-BEEF-B2E6189B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42900"/>
            <a:ext cx="47625" cy="4572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8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-1080-34">
            <a:extLst xmlns:a="http://schemas.openxmlformats.org/drawingml/2006/main">
              <a:ext uri="{FF2B5EF4-FFF2-40B4-BE49-F238E27FC236}">
                <a16:creationId xmlns:a16="http://schemas.microsoft.com/office/drawing/2014/main" id="{27FFF34D-4048-4C23-81AE-8BCAAE9D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61925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1090-42">
            <a:extLst xmlns:a="http://schemas.openxmlformats.org/drawingml/2006/main">
              <a:ext uri="{FF2B5EF4-FFF2-40B4-BE49-F238E27FC236}">
                <a16:creationId xmlns:a16="http://schemas.microsoft.com/office/drawing/2014/main" id="{16852BA0-913C-48DD-998C-438DA2EC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产品接入</a:t>
            </a:r>
          </a:p>
        </p:txBody>
      </p:sp>
    </p:spTree>
    <p:extLst>
      <p:ext uri="{BB962C8B-B14F-4D97-AF65-F5344CB8AC3E}">
        <p14:creationId xmlns:p14="http://schemas.microsoft.com/office/powerpoint/2010/main" val="92091027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2B040CC-849F-44EE-AC78-65B5DED8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A6250AC-FCC9-47EF-984A-4189C191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质量门禁覆盖模板、事务、运行链与资产适配</a:t>
            </a:r>
          </a:p>
        </p:txBody>
      </p:sp>
      <p:cxnSp>
        <p:nvCxnSpPr>
          <p:cNvPr id="21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28C41C8-927D-4E9B-8465-6CFBA7A6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F88DC19E-6861-4B07-B424-D7C27062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208E325C-AC0D-49C9-AA96-2D5F6ABB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99F79CDA-AB2E-4F6C-88F7-E2A7975B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B33D82FF-8803-403D-9213-DF2A4A15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31 / 31 测试通过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核心流程、模板目录、脚手架集成、旧资产适配四组测试全部通过。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E828008B-8B61-4B1B-A903-F1DDDA84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7C046937-058B-4772-A25A-A4BF9FCE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 个现状模板可生成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集成测试已覆盖当前启用模板；目标将 Complete / Inspect 收敛为 Machine 的 Type 0/1/2 变体。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D8E5FE3C-B24A-4CA4-B6B7-BCE302FA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8548049B-8F50-40B1-A108-53582A91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Machine dry-run 通过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Common 70 文件 + 业务 116 文件；替换 148 个文件、重命名 25 项；正式输出未修改。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B4D69212-82FE-435E-ACA3-797E704B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1865B"/>
                </a:solidFill>
                <a:latin typeface="Microsoft YaHei"/>
                <a:ea typeface="Microsoft YaHei"/>
                <a:cs typeface="Microsoft YaHei"/>
              </a:rPr>
              <a:t>模板门禁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F56AB342-F239-4A52-AABB-9CAD7775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1865B"/>
                </a:solidFill>
                <a:latin typeface="Microsoft YaHei"/>
                <a:ea typeface="Microsoft YaHei"/>
                <a:cs typeface="Microsoft YaHei"/>
              </a:rPr>
              <a:t>自动测试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1EC89112-440D-4D8C-AAF0-64421E65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1865B"/>
                </a:solidFill>
                <a:latin typeface="Microsoft YaHei"/>
                <a:ea typeface="Microsoft YaHei"/>
                <a:cs typeface="Microsoft YaHei"/>
              </a:rPr>
              <a:t>实际预演</a:t>
            </a:r>
          </a:p>
        </p:txBody>
      </p:sp>
      <p:sp>
        <p:nvSpPr>
          <p:cNvPr id="16" name="box-22-36">
            <a:extLst xmlns:a="http://schemas.openxmlformats.org/drawingml/2006/main">
              <a:ext uri="{FF2B5EF4-FFF2-40B4-BE49-F238E27FC236}">
                <a16:creationId xmlns:a16="http://schemas.microsoft.com/office/drawing/2014/main" id="{94EDBF82-0A3D-44B3-917B-A3313B50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42900"/>
            <a:ext cx="47625" cy="4572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8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-1080-34">
            <a:extLst xmlns:a="http://schemas.openxmlformats.org/drawingml/2006/main">
              <a:ext uri="{FF2B5EF4-FFF2-40B4-BE49-F238E27FC236}">
                <a16:creationId xmlns:a16="http://schemas.microsoft.com/office/drawing/2014/main" id="{50CF0105-20FA-42CB-A3F8-4924C5C7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61925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090-42">
            <a:extLst xmlns:a="http://schemas.openxmlformats.org/drawingml/2006/main">
              <a:ext uri="{FF2B5EF4-FFF2-40B4-BE49-F238E27FC236}">
                <a16:creationId xmlns:a16="http://schemas.microsoft.com/office/drawing/2014/main" id="{D0B05A48-7BC7-4D14-A18D-0AE56DA4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验证证据</a:t>
            </a:r>
          </a:p>
        </p:txBody>
      </p:sp>
    </p:spTree>
    <p:extLst>
      <p:ext uri="{BB962C8B-B14F-4D97-AF65-F5344CB8AC3E}">
        <p14:creationId xmlns:p14="http://schemas.microsoft.com/office/powerpoint/2010/main" val="19112736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box-22-36">
            <a:extLst xmlns:a="http://schemas.openxmlformats.org/drawingml/2006/main">
              <a:ext uri="{FF2B5EF4-FFF2-40B4-BE49-F238E27FC236}">
                <a16:creationId xmlns:a16="http://schemas.microsoft.com/office/drawing/2014/main" id="{6A976D03-3526-4EBE-A699-B7516580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42900"/>
            <a:ext cx="47625" cy="4572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8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D80409E2-7F9E-4510-A445-DD202AAF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实施路线：定版、试点、迁移、推广</a:t>
            </a:r>
          </a:p>
        </p:txBody>
      </p:sp>
      <p:sp>
        <p:nvSpPr>
          <p:cNvPr id="3" name="text-1060-42">
            <a:extLst xmlns:a="http://schemas.openxmlformats.org/drawingml/2006/main">
              <a:ext uri="{FF2B5EF4-FFF2-40B4-BE49-F238E27FC236}">
                <a16:creationId xmlns:a16="http://schemas.microsoft.com/office/drawing/2014/main" id="{C1F1105A-42D4-4D93-AF39-82BEC234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实施路线</a:t>
            </a:r>
          </a:p>
        </p:txBody>
      </p:sp>
      <p:sp>
        <p:nvSpPr>
          <p:cNvPr id="4" name="text-1184-658">
            <a:extLst xmlns:a="http://schemas.openxmlformats.org/drawingml/2006/main">
              <a:ext uri="{FF2B5EF4-FFF2-40B4-BE49-F238E27FC236}">
                <a16:creationId xmlns:a16="http://schemas.microsoft.com/office/drawing/2014/main" id="{6482AE3B-505A-4528-87EA-8295D3E1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text-42-108">
            <a:extLst xmlns:a="http://schemas.openxmlformats.org/drawingml/2006/main">
              <a:ext uri="{FF2B5EF4-FFF2-40B4-BE49-F238E27FC236}">
                <a16:creationId xmlns:a16="http://schemas.microsoft.com/office/drawing/2014/main" id="{A9A50B9D-2595-4DEE-8F28-EEF54235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每阶段必须以可验收产物收口，避免模板、迁移规则与业务代码同时大范围变化。</a:t>
            </a:r>
          </a:p>
        </p:txBody>
      </p:sp>
      <p:sp>
        <p:nvSpPr>
          <p:cNvPr id="6" name="box-42-174">
            <a:extLst xmlns:a="http://schemas.openxmlformats.org/drawingml/2006/main">
              <a:ext uri="{FF2B5EF4-FFF2-40B4-BE49-F238E27FC236}">
                <a16:creationId xmlns:a16="http://schemas.microsoft.com/office/drawing/2014/main" id="{851E4711-3819-4B93-8541-20C9B04A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2276475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-58-188">
            <a:extLst xmlns:a="http://schemas.openxmlformats.org/drawingml/2006/main">
              <a:ext uri="{FF2B5EF4-FFF2-40B4-BE49-F238E27FC236}">
                <a16:creationId xmlns:a16="http://schemas.microsoft.com/office/drawing/2014/main" id="{37EB8C0C-9AAB-4DCC-839B-A0BCD390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 0</a:t>
            </a:r>
          </a:p>
        </p:txBody>
      </p:sp>
      <p:sp>
        <p:nvSpPr>
          <p:cNvPr id="8" name="box-281-174">
            <a:extLst xmlns:a="http://schemas.openxmlformats.org/drawingml/2006/main">
              <a:ext uri="{FF2B5EF4-FFF2-40B4-BE49-F238E27FC236}">
                <a16:creationId xmlns:a16="http://schemas.microsoft.com/office/drawing/2014/main" id="{EFAA80FF-4298-45C7-9D48-7A1A02C3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657350"/>
            <a:ext cx="2276475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-297-188">
            <a:extLst xmlns:a="http://schemas.openxmlformats.org/drawingml/2006/main">
              <a:ext uri="{FF2B5EF4-FFF2-40B4-BE49-F238E27FC236}">
                <a16:creationId xmlns:a16="http://schemas.microsoft.com/office/drawing/2014/main" id="{2CAB16D0-4FDB-4018-BCF3-5F26B121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790700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 1</a:t>
            </a:r>
          </a:p>
        </p:txBody>
      </p:sp>
      <p:sp>
        <p:nvSpPr>
          <p:cNvPr id="10" name="box-520-174">
            <a:extLst xmlns:a="http://schemas.openxmlformats.org/drawingml/2006/main">
              <a:ext uri="{FF2B5EF4-FFF2-40B4-BE49-F238E27FC236}">
                <a16:creationId xmlns:a16="http://schemas.microsoft.com/office/drawing/2014/main" id="{34042A8F-A81B-42E5-8713-A4DCB497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57350"/>
            <a:ext cx="2276475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8EA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text-536-188">
            <a:extLst xmlns:a="http://schemas.openxmlformats.org/drawingml/2006/main">
              <a:ext uri="{FF2B5EF4-FFF2-40B4-BE49-F238E27FC236}">
                <a16:creationId xmlns:a16="http://schemas.microsoft.com/office/drawing/2014/main" id="{4E4AAE90-B5B6-4815-829E-F4B1182B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90700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阶段 2</a:t>
            </a:r>
          </a:p>
        </p:txBody>
      </p:sp>
      <p:sp>
        <p:nvSpPr>
          <p:cNvPr id="12" name="box-759-174">
            <a:extLst xmlns:a="http://schemas.openxmlformats.org/drawingml/2006/main">
              <a:ext uri="{FF2B5EF4-FFF2-40B4-BE49-F238E27FC236}">
                <a16:creationId xmlns:a16="http://schemas.microsoft.com/office/drawing/2014/main" id="{2086DEDA-0EC7-466F-BC19-757209EE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657350"/>
            <a:ext cx="2276475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8EA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-775-188">
            <a:extLst xmlns:a="http://schemas.openxmlformats.org/drawingml/2006/main">
              <a:ext uri="{FF2B5EF4-FFF2-40B4-BE49-F238E27FC236}">
                <a16:creationId xmlns:a16="http://schemas.microsoft.com/office/drawing/2014/main" id="{C521EA95-C593-42F0-8587-1500CD10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90700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阶段 3</a:t>
            </a:r>
          </a:p>
        </p:txBody>
      </p:sp>
      <p:sp>
        <p:nvSpPr>
          <p:cNvPr id="14" name="box-998-174">
            <a:extLst xmlns:a="http://schemas.openxmlformats.org/drawingml/2006/main">
              <a:ext uri="{FF2B5EF4-FFF2-40B4-BE49-F238E27FC236}">
                <a16:creationId xmlns:a16="http://schemas.microsoft.com/office/drawing/2014/main" id="{21A9B7CF-CCC2-4CBA-93C7-FC84B028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57350"/>
            <a:ext cx="2276475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8EA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-1014-188">
            <a:extLst xmlns:a="http://schemas.openxmlformats.org/drawingml/2006/main">
              <a:ext uri="{FF2B5EF4-FFF2-40B4-BE49-F238E27FC236}">
                <a16:creationId xmlns:a16="http://schemas.microsoft.com/office/drawing/2014/main" id="{0628ADD8-D16A-437B-AFAE-BAEF39D1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90700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阶段 4</a:t>
            </a:r>
          </a:p>
        </p:txBody>
      </p:sp>
      <p:sp>
        <p:nvSpPr>
          <p:cNvPr id="16" name="box-42-252">
            <a:extLst xmlns:a="http://schemas.openxmlformats.org/drawingml/2006/main">
              <a:ext uri="{FF2B5EF4-FFF2-40B4-BE49-F238E27FC236}">
                <a16:creationId xmlns:a16="http://schemas.microsoft.com/office/drawing/2014/main" id="{76EE30A6-2E21-40B4-B140-5EF3D862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45529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88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60-262">
            <a:extLst xmlns:a="http://schemas.openxmlformats.org/drawingml/2006/main">
              <a:ext uri="{FF2B5EF4-FFF2-40B4-BE49-F238E27FC236}">
                <a16:creationId xmlns:a16="http://schemas.microsoft.com/office/drawing/2014/main" id="{3581EEB7-BADC-4AFB-AD2C-9A044A91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555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边界与模板定版</a:t>
            </a:r>
          </a:p>
        </p:txBody>
      </p:sp>
      <p:sp>
        <p:nvSpPr>
          <p:cNvPr id="18" name="box-281-322">
            <a:extLst xmlns:a="http://schemas.openxmlformats.org/drawingml/2006/main">
              <a:ext uri="{FF2B5EF4-FFF2-40B4-BE49-F238E27FC236}">
                <a16:creationId xmlns:a16="http://schemas.microsoft.com/office/drawing/2014/main" id="{4EFE33EC-ED3E-4959-84AC-8D5A7EA9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067050"/>
            <a:ext cx="45529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218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299-332">
            <a:extLst xmlns:a="http://schemas.openxmlformats.org/drawingml/2006/main">
              <a:ext uri="{FF2B5EF4-FFF2-40B4-BE49-F238E27FC236}">
                <a16:creationId xmlns:a16="http://schemas.microsoft.com/office/drawing/2014/main" id="{357F80E7-82E2-45D2-83D8-4D7251D5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16230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单产品端到端试点</a:t>
            </a:r>
          </a:p>
        </p:txBody>
      </p:sp>
      <p:sp>
        <p:nvSpPr>
          <p:cNvPr id="20" name="box-520-392">
            <a:extLst xmlns:a="http://schemas.openxmlformats.org/drawingml/2006/main">
              <a:ext uri="{FF2B5EF4-FFF2-40B4-BE49-F238E27FC236}">
                <a16:creationId xmlns:a16="http://schemas.microsoft.com/office/drawing/2014/main" id="{8D2EFBED-E243-4636-AB9F-53F1EAA6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45529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D680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538-402">
            <a:extLst xmlns:a="http://schemas.openxmlformats.org/drawingml/2006/main">
              <a:ext uri="{FF2B5EF4-FFF2-40B4-BE49-F238E27FC236}">
                <a16:creationId xmlns:a16="http://schemas.microsoft.com/office/drawing/2014/main" id="{A2E98FFC-F839-4919-A144-9EFE86A0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2905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迁移映射 / 回归资产</a:t>
            </a:r>
          </a:p>
        </p:txBody>
      </p:sp>
      <p:sp>
        <p:nvSpPr>
          <p:cNvPr id="22" name="box-520-462">
            <a:extLst xmlns:a="http://schemas.openxmlformats.org/drawingml/2006/main">
              <a:ext uri="{FF2B5EF4-FFF2-40B4-BE49-F238E27FC236}">
                <a16:creationId xmlns:a16="http://schemas.microsoft.com/office/drawing/2014/main" id="{564CA27C-4F76-45D7-84AE-43AC2B22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00550"/>
            <a:ext cx="6829425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88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538-472">
            <a:extLst xmlns:a="http://schemas.openxmlformats.org/drawingml/2006/main">
              <a:ext uri="{FF2B5EF4-FFF2-40B4-BE49-F238E27FC236}">
                <a16:creationId xmlns:a16="http://schemas.microsoft.com/office/drawing/2014/main" id="{70BAC749-D1F7-47B1-8418-847C1EF1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95800"/>
            <a:ext cx="6486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按业务迁移：Aging / Dynamic；Machine 内迁移 Type 0/1/2</a:t>
            </a:r>
          </a:p>
        </p:txBody>
      </p:sp>
      <p:sp>
        <p:nvSpPr>
          <p:cNvPr id="24" name="box-759-532">
            <a:extLst xmlns:a="http://schemas.openxmlformats.org/drawingml/2006/main">
              <a:ext uri="{FF2B5EF4-FFF2-40B4-BE49-F238E27FC236}">
                <a16:creationId xmlns:a16="http://schemas.microsoft.com/office/drawing/2014/main" id="{3A1A6C52-5372-4C0F-82CC-A4BC32D7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5067300"/>
            <a:ext cx="45529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777-542">
            <a:extLst xmlns:a="http://schemas.openxmlformats.org/drawingml/2006/main">
              <a:ext uri="{FF2B5EF4-FFF2-40B4-BE49-F238E27FC236}">
                <a16:creationId xmlns:a16="http://schemas.microsoft.com/office/drawing/2014/main" id="{6BBFB92A-3C20-422D-B3BF-A7DAEBFB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16255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新产品强制走脚手架；旧仓库瘦身</a:t>
            </a:r>
          </a:p>
        </p:txBody>
      </p:sp>
      <p:sp>
        <p:nvSpPr>
          <p:cNvPr id="26" name="text-42-608">
            <a:extLst xmlns:a="http://schemas.openxmlformats.org/drawingml/2006/main">
              <a:ext uri="{FF2B5EF4-FFF2-40B4-BE49-F238E27FC236}">
                <a16:creationId xmlns:a16="http://schemas.microsoft.com/office/drawing/2014/main" id="{8905ADA5-B9A1-4049-B73B-7C69BB19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rPr>
              <a:t>验收门禁</a:t>
            </a:r>
          </a:p>
        </p:txBody>
      </p:sp>
      <p:sp>
        <p:nvSpPr>
          <p:cNvPr id="27" name="text-180-608">
            <a:extLst xmlns:a="http://schemas.openxmlformats.org/drawingml/2006/main">
              <a:ext uri="{FF2B5EF4-FFF2-40B4-BE49-F238E27FC236}">
                <a16:creationId xmlns:a16="http://schemas.microsoft.com/office/drawing/2014/main" id="{2891BE3D-69A5-4F99-B229-3416C4D6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9120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功能等价 · 数据契约 · 性能与稳定性 · 部署升级 · 可回滚 · 责任人签字</a:t>
            </a:r>
          </a:p>
        </p:txBody>
      </p:sp>
    </p:spTree>
    <p:extLst>
      <p:ext uri="{BB962C8B-B14F-4D97-AF65-F5344CB8AC3E}">
        <p14:creationId xmlns:p14="http://schemas.microsoft.com/office/powerpoint/2010/main" val="15449516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0AF6A33C-F1E7-41E8-9D1F-BC321CD5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7D68B6B4-DDBB-4D07-A34B-DA843BA0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三类高风险必须在批量迁移前解决</a:t>
            </a:r>
          </a:p>
        </p:txBody>
      </p:sp>
      <p:cxnSp>
        <p:nvCxnSpPr>
          <p:cNvPr id="21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FFB4A11B-9B9D-4619-BBB8-D8F599C7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82B6096E-DDCB-4C70-8F30-E8849311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2C0CE68-91AF-42CB-B563-B66501DD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9DB91B9A-ACCD-456C-A1B3-C6E81BEA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27CAC98B-CDA2-44D4-9A53-B6A359BC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Machine 变体归并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组件/整机/出厂共性实现复用。
差异按 Type 组织。
对策：先建差异矩阵，再迁移。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C2D8A4A2-9990-4ACD-8649-681FB0C2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1BF265BA-A604-4C6D-AE6D-324E9DA8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技术栈迁移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218 个旧式工程迁往 .NET 8，牵涉 ORM、控件、MVVM、脚本引擎。
对策：固化兼容清单与组件基线。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08B1E18F-C258-4C93-A490-9E2B6033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84AB5DA7-726F-48F3-9363-F9919275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脚本与引用映射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旧脚本直接引用 Device.Base 等程序集。
对策：适配器输出 TODO；试点固化宿主引用集。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988C0ECF-28CA-4DDF-8789-EE86F9E1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64242"/>
                </a:solidFill>
                <a:latin typeface="Microsoft YaHei"/>
                <a:ea typeface="Microsoft YaHei"/>
                <a:cs typeface="Microsoft YaHei"/>
              </a:rPr>
              <a:t>高风险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51BBCE5D-DC35-4B0A-BD29-E65B0E7F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64242"/>
                </a:solidFill>
                <a:latin typeface="Microsoft YaHei"/>
                <a:ea typeface="Microsoft YaHei"/>
                <a:cs typeface="Microsoft YaHei"/>
              </a:rPr>
              <a:t>高风险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AAFB4DA3-5E90-48CC-AFF9-F3E03822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64242"/>
                </a:solidFill>
                <a:latin typeface="Microsoft YaHei"/>
                <a:ea typeface="Microsoft YaHei"/>
                <a:cs typeface="Microsoft YaHei"/>
              </a:rPr>
              <a:t>高风险</a:t>
            </a:r>
          </a:p>
        </p:txBody>
      </p:sp>
      <p:sp>
        <p:nvSpPr>
          <p:cNvPr id="16" name="box-22-36">
            <a:extLst xmlns:a="http://schemas.openxmlformats.org/drawingml/2006/main">
              <a:ext uri="{FF2B5EF4-FFF2-40B4-BE49-F238E27FC236}">
                <a16:creationId xmlns:a16="http://schemas.microsoft.com/office/drawing/2014/main" id="{71004580-6DF7-405F-977C-647318CE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42900"/>
            <a:ext cx="47625" cy="4572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8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-1080-34">
            <a:extLst xmlns:a="http://schemas.openxmlformats.org/drawingml/2006/main">
              <a:ext uri="{FF2B5EF4-FFF2-40B4-BE49-F238E27FC236}">
                <a16:creationId xmlns:a16="http://schemas.microsoft.com/office/drawing/2014/main" id="{EBC77E08-F208-4C1B-971F-7E0E1554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61925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090-42">
            <a:extLst xmlns:a="http://schemas.openxmlformats.org/drawingml/2006/main">
              <a:ext uri="{FF2B5EF4-FFF2-40B4-BE49-F238E27FC236}">
                <a16:creationId xmlns:a16="http://schemas.microsoft.com/office/drawing/2014/main" id="{E9119F19-3F7F-4218-8615-7E6FD78C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风险控制</a:t>
            </a:r>
          </a:p>
        </p:txBody>
      </p:sp>
    </p:spTree>
    <p:extLst>
      <p:ext uri="{BB962C8B-B14F-4D97-AF65-F5344CB8AC3E}">
        <p14:creationId xmlns:p14="http://schemas.microsoft.com/office/powerpoint/2010/main" val="116347921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3-1">
            <a:extLst xmlns:a="http://schemas.openxmlformats.org/drawingml/2006/main">
              <a:ext uri="{FF2B5EF4-FFF2-40B4-BE49-F238E27FC236}">
                <a16:creationId xmlns:a16="http://schemas.microsoft.com/office/drawing/2014/main" id="{9373AAF3-65DA-468E-9C96-7AC8E06E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批准一个
可回滚试点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CD5CF73-3C9F-4703-BEA1-BE77ED0B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范围：Machine 单产品
覆盖 Type 0/1/2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门禁：功能、数据、性能、部署、回滚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治理：Common / Machine / 映射各有责任人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D09193C-6593-4201-A0CB-EEFD0F2E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8D4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4" name="box-890-190">
            <a:extLst xmlns:a="http://schemas.openxmlformats.org/drawingml/2006/main">
              <a:ext uri="{FF2B5EF4-FFF2-40B4-BE49-F238E27FC236}">
                <a16:creationId xmlns:a16="http://schemas.microsoft.com/office/drawing/2014/main" id="{E94F3C5F-5B5E-423F-9A8A-3E3F27A0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762250" cy="3048000"/>
          </a:xfrm>
          <a:prstGeom xmlns:a="http://schemas.openxmlformats.org/drawingml/2006/main" prst="roundRect">
            <a:avLst>
              <a:gd name="adj" fmla="val 69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920-220">
            <a:extLst xmlns:a="http://schemas.openxmlformats.org/drawingml/2006/main">
              <a:ext uri="{FF2B5EF4-FFF2-40B4-BE49-F238E27FC236}">
                <a16:creationId xmlns:a16="http://schemas.microsoft.com/office/drawing/2014/main" id="{242C8C45-52EC-4486-9FBC-0D6CB866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CC5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CC5EC"/>
                </a:solidFill>
                <a:latin typeface="Microsoft YaHei"/>
                <a:ea typeface="Microsoft YaHei"/>
                <a:cs typeface="Microsoft YaHei"/>
              </a:rPr>
              <a:t>试点输出</a:t>
            </a:r>
          </a:p>
        </p:txBody>
      </p:sp>
      <p:sp>
        <p:nvSpPr>
          <p:cNvPr id="6" name="text-920-292">
            <a:extLst xmlns:a="http://schemas.openxmlformats.org/drawingml/2006/main">
              <a:ext uri="{FF2B5EF4-FFF2-40B4-BE49-F238E27FC236}">
                <a16:creationId xmlns:a16="http://schemas.microsoft.com/office/drawing/2014/main" id="{B518F90D-ED5F-4D3A-8E17-D8734C2E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个可部署产品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套 Machine 模板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类业务变体回归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份问题与成本基线</a:t>
            </a:r>
          </a:p>
        </p:txBody>
      </p:sp>
      <p:sp>
        <p:nvSpPr>
          <p:cNvPr id="7" name="text-920-466">
            <a:extLst xmlns:a="http://schemas.openxmlformats.org/drawingml/2006/main">
              <a:ext uri="{FF2B5EF4-FFF2-40B4-BE49-F238E27FC236}">
                <a16:creationId xmlns:a16="http://schemas.microsoft.com/office/drawing/2014/main" id="{F26082B3-661E-4F1C-8A90-A92F629A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386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CC5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CC5EC"/>
                </a:solidFill>
                <a:latin typeface="Microsoft YaHei"/>
                <a:ea typeface="Microsoft YaHei"/>
                <a:cs typeface="Microsoft YaHei"/>
              </a:rPr>
              <a:t>通过门禁后再扩面</a:t>
            </a:r>
          </a:p>
        </p:txBody>
      </p:sp>
    </p:spTree>
    <p:extLst>
      <p:ext uri="{BB962C8B-B14F-4D97-AF65-F5344CB8AC3E}">
        <p14:creationId xmlns:p14="http://schemas.microsoft.com/office/powerpoint/2010/main" val="8792063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2026-08-07T11:14:44.4970000Z</dcterms:created>
  <dcterms:modified xsi:type="dcterms:W3CDTF">2026-08-07T11:14:44.4970000Z</dcterms:modified>
</coreProperties>
</file>